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7"/>
  </p:notesMasterIdLst>
  <p:handoutMasterIdLst>
    <p:handoutMasterId r:id="rId18"/>
  </p:handoutMasterIdLst>
  <p:sldIdLst>
    <p:sldId id="256" r:id="rId2"/>
    <p:sldId id="295" r:id="rId3"/>
    <p:sldId id="290" r:id="rId4"/>
    <p:sldId id="298" r:id="rId5"/>
    <p:sldId id="291" r:id="rId6"/>
    <p:sldId id="292" r:id="rId7"/>
    <p:sldId id="299" r:id="rId8"/>
    <p:sldId id="297" r:id="rId9"/>
    <p:sldId id="300" r:id="rId10"/>
    <p:sldId id="293" r:id="rId11"/>
    <p:sldId id="301" r:id="rId12"/>
    <p:sldId id="302" r:id="rId13"/>
    <p:sldId id="303" r:id="rId14"/>
    <p:sldId id="304" r:id="rId15"/>
    <p:sldId id="288" r:id="rId16"/>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38" autoAdjust="0"/>
    <p:restoredTop sz="95033" autoAdjust="0"/>
  </p:normalViewPr>
  <p:slideViewPr>
    <p:cSldViewPr>
      <p:cViewPr varScale="1">
        <p:scale>
          <a:sx n="124" d="100"/>
          <a:sy n="124" d="100"/>
        </p:scale>
        <p:origin x="612" y="102"/>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11/03/2026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11/03/2026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9AA65-166B-474B-A6C9-9858D86A944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158223-A8BA-05F6-464C-EC03A9FB8C5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CB4DF-C329-8F47-9ECE-661B5B2BF9A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41B2276-A4E2-DFBF-0088-6997E86C9FE1}"/>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23623159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2917382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1.0 WAVEGUIDES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4.svg"/><Relationship Id="rId9"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noProof="0" dirty="0" err="1">
                <a:latin typeface="Lucida Sans"/>
                <a:cs typeface="Lucida Sans"/>
              </a:rPr>
              <a:t>Lab</a:t>
            </a:r>
            <a:r>
              <a:rPr lang="es-ES" sz="3200" b="1" noProof="0" dirty="0">
                <a:latin typeface="Lucida Sans"/>
                <a:cs typeface="Lucida Sans"/>
              </a:rPr>
              <a:t> Book 1.0. </a:t>
            </a:r>
            <a:r>
              <a:rPr lang="es-ES" sz="3200" b="1" noProof="0" dirty="0" err="1">
                <a:latin typeface="Lucida Sans"/>
                <a:cs typeface="Lucida Sans"/>
              </a:rPr>
              <a:t>Waveguides</a:t>
            </a:r>
            <a:endParaRPr lang="es-ES" sz="3200" noProof="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noProof="0" dirty="0" err="1">
                <a:latin typeface="Arial"/>
                <a:cs typeface="Arial"/>
              </a:rPr>
              <a:t>Student</a:t>
            </a:r>
            <a:r>
              <a:rPr lang="es-ES" spc="165" noProof="0" dirty="0">
                <a:latin typeface="Arial"/>
                <a:cs typeface="Arial"/>
              </a:rPr>
              <a:t>: Arnau Bernabeu Corbí</a:t>
            </a:r>
            <a:endParaRPr lang="es-ES" sz="1800" noProof="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lang="es-ES" noProof="0" dirty="0"/>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noProof="0" smtClean="0"/>
              <a:t>1</a:t>
            </a:fld>
            <a:endParaRPr lang="es-ES"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noProof="0" dirty="0" err="1">
                <a:latin typeface="+mj-lt"/>
                <a:cs typeface="Lucida Sans"/>
              </a:rPr>
              <a:t>Instructions</a:t>
            </a:r>
            <a:br>
              <a:rPr lang="es-ES" sz="2400" spc="-5" noProof="0" dirty="0">
                <a:latin typeface="+mj-lt"/>
                <a:cs typeface="Lucida Sans"/>
              </a:rPr>
            </a:br>
            <a:r>
              <a:rPr lang="es-ES" b="0" spc="-5" noProof="0" dirty="0">
                <a:latin typeface="+mj-lt"/>
                <a:cs typeface="Lucida Sans"/>
              </a:rPr>
              <a:t>General</a:t>
            </a:r>
            <a:endParaRPr lang="es-ES" sz="2400" b="0" noProof="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noProof="0" smtClean="0"/>
              <a:t>2</a:t>
            </a:fld>
            <a:endParaRPr lang="es-ES" noProof="0" dirty="0"/>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noProof="0" dirty="0"/>
              <a:t>LAB 1.0 WAVEGUIDES</a:t>
            </a:r>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s-ES" sz="2000" b="1" kern="0" noProof="0" dirty="0">
                <a:solidFill>
                  <a:sysClr val="windowText" lastClr="000000"/>
                </a:solidFill>
                <a:sym typeface="Wingdings" pitchFamily="2" charset="2"/>
              </a:rPr>
              <a:t>SCRIPTS</a:t>
            </a:r>
          </a:p>
          <a:p>
            <a:pPr marL="342900" indent="-342900" algn="just">
              <a:buFont typeface="Arial" panose="020B0604020202020204" pitchFamily="34" charset="0"/>
              <a:buChar char="•"/>
            </a:pPr>
            <a:r>
              <a:rPr lang="es-ES" kern="0" noProof="0" dirty="0" err="1">
                <a:solidFill>
                  <a:sysClr val="windowText" lastClr="000000"/>
                </a:solidFill>
                <a:sym typeface="Wingdings" pitchFamily="2" charset="2"/>
              </a:rPr>
              <a:t>From</a:t>
            </a:r>
            <a:r>
              <a:rPr lang="es-ES" kern="0" noProof="0" dirty="0">
                <a:solidFill>
                  <a:sysClr val="windowText" lastClr="000000"/>
                </a:solidFill>
                <a:sym typeface="Wingdings" pitchFamily="2" charset="2"/>
              </a:rPr>
              <a:t> 	GitHub  </a:t>
            </a:r>
          </a:p>
          <a:p>
            <a:pPr marL="800100" lvl="1" indent="-342900" algn="just">
              <a:buFont typeface="Arial" panose="020B0604020202020204" pitchFamily="34" charset="0"/>
              <a:buChar char="•"/>
            </a:pPr>
            <a:r>
              <a:rPr lang="es-ES" kern="0" noProof="0" dirty="0" err="1">
                <a:solidFill>
                  <a:sysClr val="windowText" lastClr="000000"/>
                </a:solidFill>
                <a:sym typeface="Wingdings" pitchFamily="2" charset="2"/>
              </a:rPr>
              <a:t>Fork</a:t>
            </a:r>
            <a:r>
              <a:rPr lang="es-ES" kern="0" noProof="0" dirty="0">
                <a:solidFill>
                  <a:sysClr val="windowText" lastClr="000000"/>
                </a:solidFill>
                <a:sym typeface="Wingdings" pitchFamily="2" charset="2"/>
              </a:rPr>
              <a:t> </a:t>
            </a:r>
            <a:r>
              <a:rPr lang="es-ES" kern="0" noProof="0" dirty="0" err="1">
                <a:solidFill>
                  <a:sysClr val="windowText" lastClr="000000"/>
                </a:solidFill>
                <a:sym typeface="Wingdings" pitchFamily="2" charset="2"/>
              </a:rPr>
              <a:t>the</a:t>
            </a:r>
            <a:r>
              <a:rPr lang="es-ES" kern="0" noProof="0" dirty="0">
                <a:solidFill>
                  <a:sysClr val="windowText" lastClr="000000"/>
                </a:solidFill>
                <a:sym typeface="Wingdings" pitchFamily="2" charset="2"/>
              </a:rPr>
              <a:t> repo: https://github.com/cccanvas-upv/cifoin-lab1.git</a:t>
            </a:r>
          </a:p>
          <a:p>
            <a:pPr marL="800100" lvl="1" indent="-342900" algn="just">
              <a:buFont typeface="Arial" panose="020B0604020202020204" pitchFamily="34" charset="0"/>
              <a:buChar char="•"/>
            </a:pPr>
            <a:r>
              <a:rPr lang="es-ES" kern="0" noProof="0" dirty="0">
                <a:solidFill>
                  <a:sysClr val="windowText" lastClr="000000"/>
                </a:solidFill>
                <a:sym typeface="Wingdings" pitchFamily="2" charset="2"/>
              </a:rPr>
              <a:t>Clone </a:t>
            </a:r>
            <a:r>
              <a:rPr lang="es-ES" kern="0" noProof="0" dirty="0" err="1">
                <a:solidFill>
                  <a:sysClr val="windowText" lastClr="000000"/>
                </a:solidFill>
                <a:sym typeface="Wingdings" pitchFamily="2" charset="2"/>
              </a:rPr>
              <a:t>the</a:t>
            </a:r>
            <a:r>
              <a:rPr lang="es-ES" kern="0" noProof="0" dirty="0">
                <a:solidFill>
                  <a:sysClr val="windowText" lastClr="000000"/>
                </a:solidFill>
                <a:sym typeface="Wingdings" pitchFamily="2" charset="2"/>
              </a:rPr>
              <a:t> repo </a:t>
            </a:r>
            <a:r>
              <a:rPr lang="es-ES" kern="0" noProof="0" dirty="0" err="1">
                <a:solidFill>
                  <a:sysClr val="windowText" lastClr="000000"/>
                </a:solidFill>
                <a:sym typeface="Wingdings" pitchFamily="2" charset="2"/>
              </a:rPr>
              <a:t>using</a:t>
            </a:r>
            <a:r>
              <a:rPr lang="es-ES" kern="0" noProof="0" dirty="0">
                <a:solidFill>
                  <a:sysClr val="windowText" lastClr="000000"/>
                </a:solidFill>
                <a:sym typeface="Wingdings" pitchFamily="2" charset="2"/>
              </a:rPr>
              <a:t> </a:t>
            </a:r>
            <a:r>
              <a:rPr lang="es-ES" kern="0" noProof="0" dirty="0" err="1">
                <a:solidFill>
                  <a:sysClr val="windowText" lastClr="000000"/>
                </a:solidFill>
                <a:sym typeface="Wingdings" pitchFamily="2" charset="2"/>
              </a:rPr>
              <a:t>VSCode</a:t>
            </a:r>
            <a:endParaRPr lang="es-ES" kern="0" noProof="0" dirty="0">
              <a:solidFill>
                <a:sysClr val="windowText" lastClr="000000"/>
              </a:solidFill>
              <a:sym typeface="Wingdings" pitchFamily="2" charset="2"/>
            </a:endParaRPr>
          </a:p>
          <a:p>
            <a:pPr marL="342900" indent="-342900" algn="just">
              <a:buFont typeface="Arial" panose="020B0604020202020204" pitchFamily="34" charset="0"/>
              <a:buChar char="•"/>
            </a:pPr>
            <a:r>
              <a:rPr lang="es-ES" kern="0" noProof="0" dirty="0">
                <a:solidFill>
                  <a:sysClr val="windowText" lastClr="000000"/>
                </a:solidFill>
              </a:rPr>
              <a:t>Run </a:t>
            </a:r>
            <a:r>
              <a:rPr lang="es-ES" kern="0" noProof="0" dirty="0" err="1">
                <a:solidFill>
                  <a:sysClr val="windowText" lastClr="000000"/>
                </a:solidFill>
              </a:rPr>
              <a:t>the</a:t>
            </a:r>
            <a:r>
              <a:rPr lang="es-ES" kern="0" noProof="0" dirty="0">
                <a:solidFill>
                  <a:sysClr val="windowText" lastClr="000000"/>
                </a:solidFill>
              </a:rPr>
              <a:t> </a:t>
            </a:r>
            <a:r>
              <a:rPr lang="es-ES" kern="0" noProof="0" dirty="0" err="1">
                <a:solidFill>
                  <a:sysClr val="windowText" lastClr="000000"/>
                </a:solidFill>
              </a:rPr>
              <a:t>Jupyter</a:t>
            </a:r>
            <a:r>
              <a:rPr lang="es-ES" kern="0" noProof="0" dirty="0">
                <a:solidFill>
                  <a:sysClr val="windowText" lastClr="000000"/>
                </a:solidFill>
              </a:rPr>
              <a:t> Notebook: </a:t>
            </a:r>
          </a:p>
          <a:p>
            <a:pPr marL="800100" lvl="1" indent="-342900" algn="just">
              <a:buFont typeface="Arial" panose="020B0604020202020204" pitchFamily="34" charset="0"/>
              <a:buChar char="•"/>
            </a:pPr>
            <a:r>
              <a:rPr lang="es-ES" kern="0" noProof="0" dirty="0" err="1">
                <a:solidFill>
                  <a:sysClr val="windowText" lastClr="000000"/>
                </a:solidFill>
              </a:rPr>
              <a:t>WAVEGUIDES_Student.ipynb</a:t>
            </a:r>
            <a:r>
              <a:rPr lang="es-ES" kern="0" noProof="0" dirty="0">
                <a:solidFill>
                  <a:sysClr val="windowText" lastClr="000000"/>
                </a:solidFill>
              </a:rPr>
              <a:t> </a:t>
            </a:r>
          </a:p>
          <a:p>
            <a:pPr algn="just"/>
            <a:endParaRPr lang="es-ES" sz="2000" b="1" i="1" u="sng" noProof="0" dirty="0"/>
          </a:p>
          <a:p>
            <a:pPr algn="just"/>
            <a:endParaRPr lang="es-ES" sz="2000" kern="0" noProof="0" dirty="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902765"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lang="es-ES" noProof="0" dirty="0"/>
          </a:p>
        </p:txBody>
      </p:sp>
      <p:sp>
        <p:nvSpPr>
          <p:cNvPr id="97" name="object 62">
            <a:extLst>
              <a:ext uri="{FF2B5EF4-FFF2-40B4-BE49-F238E27FC236}">
                <a16:creationId xmlns:a16="http://schemas.microsoft.com/office/drawing/2014/main" id="{13E0425E-CEDF-CBC4-B34B-0CC3951920EA}"/>
              </a:ext>
            </a:extLst>
          </p:cNvPr>
          <p:cNvSpPr/>
          <p:nvPr/>
        </p:nvSpPr>
        <p:spPr>
          <a:xfrm>
            <a:off x="1747061" y="3983757"/>
            <a:ext cx="76200" cy="986155"/>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lang="es-ES" noProof="0" dirty="0"/>
          </a:p>
        </p:txBody>
      </p:sp>
      <p:sp>
        <p:nvSpPr>
          <p:cNvPr id="98" name="object 63">
            <a:extLst>
              <a:ext uri="{FF2B5EF4-FFF2-40B4-BE49-F238E27FC236}">
                <a16:creationId xmlns:a16="http://schemas.microsoft.com/office/drawing/2014/main" id="{FDE45797-C0E3-ACE0-F66B-057BDEDB9070}"/>
              </a:ext>
            </a:extLst>
          </p:cNvPr>
          <p:cNvSpPr txBox="1"/>
          <p:nvPr/>
        </p:nvSpPr>
        <p:spPr>
          <a:xfrm>
            <a:off x="1091131" y="4210910"/>
            <a:ext cx="577850" cy="454025"/>
          </a:xfrm>
          <a:prstGeom prst="rect">
            <a:avLst/>
          </a:prstGeom>
        </p:spPr>
        <p:txBody>
          <a:bodyPr vert="horz" wrap="square" lIns="0" tIns="13335" rIns="0" bIns="0" rtlCol="0">
            <a:spAutoFit/>
          </a:bodyPr>
          <a:lstStyle/>
          <a:p>
            <a:pPr marR="3175" algn="ctr">
              <a:lnSpc>
                <a:spcPct val="100000"/>
              </a:lnSpc>
              <a:spcBef>
                <a:spcPts val="105"/>
              </a:spcBef>
            </a:pPr>
            <a:r>
              <a:rPr lang="es-ES" sz="1400" noProof="0" dirty="0">
                <a:latin typeface="Calibri"/>
                <a:cs typeface="Calibri"/>
              </a:rPr>
              <a:t>h</a:t>
            </a:r>
          </a:p>
          <a:p>
            <a:pPr marR="5080" algn="ctr">
              <a:lnSpc>
                <a:spcPct val="100000"/>
              </a:lnSpc>
              <a:spcBef>
                <a:spcPts val="5"/>
              </a:spcBef>
            </a:pPr>
            <a:r>
              <a:rPr lang="es-ES" sz="1400" spc="-10" noProof="0" dirty="0">
                <a:latin typeface="Calibri"/>
                <a:cs typeface="Calibri"/>
              </a:rPr>
              <a:t>(</a:t>
            </a:r>
            <a:r>
              <a:rPr lang="es-ES" sz="1400" spc="-10" noProof="0" dirty="0" err="1">
                <a:latin typeface="Calibri"/>
                <a:cs typeface="Calibri"/>
              </a:rPr>
              <a:t>h</a:t>
            </a:r>
            <a:r>
              <a:rPr lang="es-ES" sz="1400" noProof="0" dirty="0" err="1">
                <a:latin typeface="Calibri"/>
                <a:cs typeface="Calibri"/>
              </a:rPr>
              <a:t>eig</a:t>
            </a:r>
            <a:r>
              <a:rPr lang="es-ES" sz="1400" spc="-25" noProof="0" dirty="0" err="1">
                <a:latin typeface="Calibri"/>
                <a:cs typeface="Calibri"/>
              </a:rPr>
              <a:t>h</a:t>
            </a:r>
            <a:r>
              <a:rPr lang="es-ES" sz="1400" spc="-5" noProof="0" dirty="0" err="1">
                <a:latin typeface="Calibri"/>
                <a:cs typeface="Calibri"/>
              </a:rPr>
              <a:t>t</a:t>
            </a:r>
            <a:r>
              <a:rPr lang="es-ES" sz="1400" noProof="0" dirty="0">
                <a:latin typeface="Calibri"/>
                <a:cs typeface="Calibri"/>
              </a:rPr>
              <a:t>)</a:t>
            </a:r>
          </a:p>
        </p:txBody>
      </p:sp>
      <p:sp>
        <p:nvSpPr>
          <p:cNvPr id="99" name="object 64">
            <a:extLst>
              <a:ext uri="{FF2B5EF4-FFF2-40B4-BE49-F238E27FC236}">
                <a16:creationId xmlns:a16="http://schemas.microsoft.com/office/drawing/2014/main" id="{ABAAA5DD-56CA-BF94-2180-F0866658B6B3}"/>
              </a:ext>
            </a:extLst>
          </p:cNvPr>
          <p:cNvSpPr/>
          <p:nvPr/>
        </p:nvSpPr>
        <p:spPr>
          <a:xfrm>
            <a:off x="1984805"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lang="es-ES" noProof="0" dirty="0"/>
          </a:p>
        </p:txBody>
      </p:sp>
      <p:sp>
        <p:nvSpPr>
          <p:cNvPr id="100" name="object 65">
            <a:extLst>
              <a:ext uri="{FF2B5EF4-FFF2-40B4-BE49-F238E27FC236}">
                <a16:creationId xmlns:a16="http://schemas.microsoft.com/office/drawing/2014/main" id="{A1EF013C-5123-D9A7-DC76-FEFD731E96E2}"/>
              </a:ext>
            </a:extLst>
          </p:cNvPr>
          <p:cNvSpPr txBox="1"/>
          <p:nvPr/>
        </p:nvSpPr>
        <p:spPr>
          <a:xfrm>
            <a:off x="2504743" y="3532730"/>
            <a:ext cx="733425" cy="240029"/>
          </a:xfrm>
          <a:prstGeom prst="rect">
            <a:avLst/>
          </a:prstGeom>
        </p:spPr>
        <p:txBody>
          <a:bodyPr vert="horz" wrap="square" lIns="0" tIns="13335" rIns="0" bIns="0" rtlCol="0">
            <a:spAutoFit/>
          </a:bodyPr>
          <a:lstStyle/>
          <a:p>
            <a:pPr>
              <a:lnSpc>
                <a:spcPct val="100000"/>
              </a:lnSpc>
              <a:spcBef>
                <a:spcPts val="105"/>
              </a:spcBef>
            </a:pPr>
            <a:r>
              <a:rPr lang="es-ES" sz="1400" spc="5" noProof="0" dirty="0">
                <a:latin typeface="Calibri"/>
                <a:cs typeface="Calibri"/>
              </a:rPr>
              <a:t>W</a:t>
            </a:r>
            <a:r>
              <a:rPr lang="es-ES" sz="1400" spc="-65" noProof="0" dirty="0">
                <a:latin typeface="Calibri"/>
                <a:cs typeface="Calibri"/>
              </a:rPr>
              <a:t> </a:t>
            </a:r>
            <a:r>
              <a:rPr lang="es-ES" sz="1400" spc="-5" noProof="0" dirty="0">
                <a:latin typeface="Calibri"/>
                <a:cs typeface="Calibri"/>
              </a:rPr>
              <a:t>(</a:t>
            </a:r>
            <a:r>
              <a:rPr lang="es-ES" sz="1400" spc="-5" noProof="0" dirty="0" err="1">
                <a:latin typeface="Calibri"/>
                <a:cs typeface="Calibri"/>
              </a:rPr>
              <a:t>width</a:t>
            </a:r>
            <a:r>
              <a:rPr lang="es-ES" sz="1400" spc="-5" noProof="0" dirty="0">
                <a:latin typeface="Calibri"/>
                <a:cs typeface="Calibri"/>
              </a:rPr>
              <a:t>)</a:t>
            </a:r>
            <a:endParaRPr lang="es-ES" sz="1400" noProof="0" dirty="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1984805"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lang="es-ES" sz="2350" noProof="0" dirty="0">
              <a:latin typeface="Times New Roman"/>
              <a:cs typeface="Times New Roman"/>
            </a:endParaRPr>
          </a:p>
          <a:p>
            <a:pPr marL="18415" algn="ctr">
              <a:lnSpc>
                <a:spcPct val="100000"/>
              </a:lnSpc>
            </a:pPr>
            <a:r>
              <a:rPr lang="es-ES" sz="1600" b="1" spc="-10" noProof="0" dirty="0">
                <a:latin typeface="Calibri"/>
                <a:cs typeface="Calibri"/>
              </a:rPr>
              <a:t>Core</a:t>
            </a:r>
            <a:endParaRPr lang="es-ES" sz="1600" noProof="0" dirty="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3983988" y="4338253"/>
            <a:ext cx="741045" cy="269240"/>
          </a:xfrm>
          <a:prstGeom prst="rect">
            <a:avLst/>
          </a:prstGeom>
        </p:spPr>
        <p:txBody>
          <a:bodyPr vert="horz" wrap="square" lIns="0" tIns="12065" rIns="0" bIns="0" rtlCol="0">
            <a:spAutoFit/>
          </a:bodyPr>
          <a:lstStyle/>
          <a:p>
            <a:pPr>
              <a:lnSpc>
                <a:spcPct val="100000"/>
              </a:lnSpc>
              <a:spcBef>
                <a:spcPts val="95"/>
              </a:spcBef>
            </a:pPr>
            <a:r>
              <a:rPr lang="es-ES" sz="1600" b="1" spc="-10" noProof="0" dirty="0" err="1">
                <a:latin typeface="Calibri"/>
                <a:cs typeface="Calibri"/>
              </a:rPr>
              <a:t>Cladding</a:t>
            </a:r>
            <a:endParaRPr lang="es-ES" sz="1600" noProof="0" dirty="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391400"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lang="es-ES" noProof="0" dirty="0"/>
          </a:p>
        </p:txBody>
      </p:sp>
      <p:sp>
        <p:nvSpPr>
          <p:cNvPr id="114" name="object 64">
            <a:extLst>
              <a:ext uri="{FF2B5EF4-FFF2-40B4-BE49-F238E27FC236}">
                <a16:creationId xmlns:a16="http://schemas.microsoft.com/office/drawing/2014/main" id="{D9E5D738-CA47-1898-E0D8-DFBC514F5A50}"/>
              </a:ext>
            </a:extLst>
          </p:cNvPr>
          <p:cNvSpPr/>
          <p:nvPr/>
        </p:nvSpPr>
        <p:spPr>
          <a:xfrm>
            <a:off x="8473440"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lang="es-ES" noProof="0" dirty="0"/>
          </a:p>
        </p:txBody>
      </p:sp>
      <p:sp>
        <p:nvSpPr>
          <p:cNvPr id="115" name="object 65">
            <a:extLst>
              <a:ext uri="{FF2B5EF4-FFF2-40B4-BE49-F238E27FC236}">
                <a16:creationId xmlns:a16="http://schemas.microsoft.com/office/drawing/2014/main" id="{74A4CAE1-BC33-1BCD-6F24-54F1DFA8AEDB}"/>
              </a:ext>
            </a:extLst>
          </p:cNvPr>
          <p:cNvSpPr txBox="1"/>
          <p:nvPr/>
        </p:nvSpPr>
        <p:spPr>
          <a:xfrm>
            <a:off x="8993378" y="3532730"/>
            <a:ext cx="733425" cy="240029"/>
          </a:xfrm>
          <a:prstGeom prst="rect">
            <a:avLst/>
          </a:prstGeom>
        </p:spPr>
        <p:txBody>
          <a:bodyPr vert="horz" wrap="square" lIns="0" tIns="13335" rIns="0" bIns="0" rtlCol="0">
            <a:spAutoFit/>
          </a:bodyPr>
          <a:lstStyle/>
          <a:p>
            <a:pPr>
              <a:lnSpc>
                <a:spcPct val="100000"/>
              </a:lnSpc>
              <a:spcBef>
                <a:spcPts val="105"/>
              </a:spcBef>
            </a:pPr>
            <a:r>
              <a:rPr lang="es-ES" sz="1400" spc="5" noProof="0" dirty="0">
                <a:latin typeface="Calibri"/>
                <a:cs typeface="Calibri"/>
              </a:rPr>
              <a:t>W</a:t>
            </a:r>
            <a:r>
              <a:rPr lang="es-ES" sz="1400" spc="-65" noProof="0" dirty="0">
                <a:latin typeface="Calibri"/>
                <a:cs typeface="Calibri"/>
              </a:rPr>
              <a:t> </a:t>
            </a:r>
            <a:r>
              <a:rPr lang="es-ES" sz="1400" spc="-5" noProof="0" dirty="0">
                <a:latin typeface="Calibri"/>
                <a:cs typeface="Calibri"/>
              </a:rPr>
              <a:t>(</a:t>
            </a:r>
            <a:r>
              <a:rPr lang="es-ES" sz="1400" spc="-5" noProof="0" dirty="0" err="1">
                <a:latin typeface="Calibri"/>
                <a:cs typeface="Calibri"/>
              </a:rPr>
              <a:t>width</a:t>
            </a:r>
            <a:r>
              <a:rPr lang="es-ES" sz="1400" spc="-5" noProof="0" dirty="0">
                <a:latin typeface="Calibri"/>
                <a:cs typeface="Calibri"/>
              </a:rPr>
              <a:t>)</a:t>
            </a:r>
            <a:endParaRPr lang="es-ES" sz="1400" noProof="0" dirty="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8473440"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lang="es-ES" sz="2350" noProof="0" dirty="0">
              <a:latin typeface="Times New Roman"/>
              <a:cs typeface="Times New Roman"/>
            </a:endParaRPr>
          </a:p>
          <a:p>
            <a:pPr marL="18415" algn="ctr">
              <a:lnSpc>
                <a:spcPct val="100000"/>
              </a:lnSpc>
            </a:pPr>
            <a:r>
              <a:rPr lang="es-ES" sz="1600" b="1" spc="-10" noProof="0" dirty="0">
                <a:latin typeface="Calibri"/>
                <a:cs typeface="Calibri"/>
              </a:rPr>
              <a:t>Core</a:t>
            </a:r>
            <a:endParaRPr lang="es-ES" sz="1600" noProof="0" dirty="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10472623" y="4338253"/>
            <a:ext cx="741045" cy="269240"/>
          </a:xfrm>
          <a:prstGeom prst="rect">
            <a:avLst/>
          </a:prstGeom>
        </p:spPr>
        <p:txBody>
          <a:bodyPr vert="horz" wrap="square" lIns="0" tIns="12065" rIns="0" bIns="0" rtlCol="0">
            <a:spAutoFit/>
          </a:bodyPr>
          <a:lstStyle/>
          <a:p>
            <a:pPr>
              <a:lnSpc>
                <a:spcPct val="100000"/>
              </a:lnSpc>
              <a:spcBef>
                <a:spcPts val="95"/>
              </a:spcBef>
            </a:pPr>
            <a:r>
              <a:rPr lang="es-ES" sz="1600" b="1" spc="-10" noProof="0" dirty="0" err="1">
                <a:latin typeface="Calibri"/>
                <a:cs typeface="Calibri"/>
              </a:rPr>
              <a:t>Cladding</a:t>
            </a:r>
            <a:endParaRPr lang="es-ES" sz="1600" noProof="0" dirty="0">
              <a:latin typeface="Calibri"/>
              <a:cs typeface="Calibri"/>
            </a:endParaRPr>
          </a:p>
        </p:txBody>
      </p:sp>
      <p:sp>
        <p:nvSpPr>
          <p:cNvPr id="120" name="object 73">
            <a:extLst>
              <a:ext uri="{FF2B5EF4-FFF2-40B4-BE49-F238E27FC236}">
                <a16:creationId xmlns:a16="http://schemas.microsoft.com/office/drawing/2014/main" id="{C699977C-9138-F9B9-E43D-0CCB01AEB75F}"/>
              </a:ext>
            </a:extLst>
          </p:cNvPr>
          <p:cNvSpPr txBox="1"/>
          <p:nvPr/>
        </p:nvSpPr>
        <p:spPr>
          <a:xfrm>
            <a:off x="7391400" y="4690819"/>
            <a:ext cx="39061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lang="es-ES" sz="2350" noProof="0" dirty="0">
              <a:latin typeface="Times New Roman"/>
              <a:cs typeface="Times New Roman"/>
            </a:endParaRPr>
          </a:p>
          <a:p>
            <a:pPr marL="18415">
              <a:lnSpc>
                <a:spcPct val="100000"/>
              </a:lnSpc>
            </a:pPr>
            <a:r>
              <a:rPr lang="es-ES" sz="1600" b="1" spc="-10" noProof="0" dirty="0" err="1">
                <a:latin typeface="Calibri"/>
                <a:cs typeface="Calibri"/>
              </a:rPr>
              <a:t>Slab</a:t>
            </a:r>
            <a:endParaRPr lang="es-ES" sz="1600" noProof="0" dirty="0">
              <a:latin typeface="Calibri"/>
              <a:cs typeface="Calibri"/>
            </a:endParaRPr>
          </a:p>
        </p:txBody>
      </p:sp>
      <p:sp>
        <p:nvSpPr>
          <p:cNvPr id="112" name="object 62">
            <a:extLst>
              <a:ext uri="{FF2B5EF4-FFF2-40B4-BE49-F238E27FC236}">
                <a16:creationId xmlns:a16="http://schemas.microsoft.com/office/drawing/2014/main" id="{04561701-4B4F-F208-98F6-2DAB5C1138D3}"/>
              </a:ext>
            </a:extLst>
          </p:cNvPr>
          <p:cNvSpPr/>
          <p:nvPr/>
        </p:nvSpPr>
        <p:spPr>
          <a:xfrm>
            <a:off x="8575910" y="3994221"/>
            <a:ext cx="56259" cy="694989"/>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lang="es-ES" noProof="0" dirty="0"/>
          </a:p>
        </p:txBody>
      </p:sp>
      <p:sp>
        <p:nvSpPr>
          <p:cNvPr id="121" name="object 62">
            <a:extLst>
              <a:ext uri="{FF2B5EF4-FFF2-40B4-BE49-F238E27FC236}">
                <a16:creationId xmlns:a16="http://schemas.microsoft.com/office/drawing/2014/main" id="{CCA3B0D6-0C9E-B4A6-FA43-1AB5F1821674}"/>
              </a:ext>
            </a:extLst>
          </p:cNvPr>
          <p:cNvSpPr/>
          <p:nvPr/>
        </p:nvSpPr>
        <p:spPr>
          <a:xfrm>
            <a:off x="8233207" y="4689210"/>
            <a:ext cx="55008" cy="613272"/>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lang="es-ES" noProof="0" dirty="0"/>
          </a:p>
        </p:txBody>
      </p:sp>
      <p:sp>
        <p:nvSpPr>
          <p:cNvPr id="113" name="object 63">
            <a:extLst>
              <a:ext uri="{FF2B5EF4-FFF2-40B4-BE49-F238E27FC236}">
                <a16:creationId xmlns:a16="http://schemas.microsoft.com/office/drawing/2014/main" id="{6394166D-0522-24AD-E666-39FE8A3FDC24}"/>
              </a:ext>
            </a:extLst>
          </p:cNvPr>
          <p:cNvSpPr txBox="1"/>
          <p:nvPr/>
        </p:nvSpPr>
        <p:spPr>
          <a:xfrm>
            <a:off x="8351994" y="4887127"/>
            <a:ext cx="674053" cy="228909"/>
          </a:xfrm>
          <a:prstGeom prst="rect">
            <a:avLst/>
          </a:prstGeom>
        </p:spPr>
        <p:txBody>
          <a:bodyPr vert="horz" wrap="square" lIns="0" tIns="13335" rIns="0" bIns="0" rtlCol="0">
            <a:spAutoFit/>
          </a:bodyPr>
          <a:lstStyle/>
          <a:p>
            <a:pPr marR="3175">
              <a:lnSpc>
                <a:spcPct val="100000"/>
              </a:lnSpc>
              <a:spcBef>
                <a:spcPts val="105"/>
              </a:spcBef>
            </a:pPr>
            <a:r>
              <a:rPr lang="es-ES" sz="1400" noProof="0" dirty="0" err="1">
                <a:latin typeface="Calibri"/>
                <a:cs typeface="Calibri"/>
              </a:rPr>
              <a:t>h_slab</a:t>
            </a:r>
            <a:endParaRPr lang="es-ES" sz="1400" noProof="0" dirty="0">
              <a:latin typeface="Calibri"/>
              <a:cs typeface="Calibri"/>
            </a:endParaRPr>
          </a:p>
        </p:txBody>
      </p:sp>
      <p:sp>
        <p:nvSpPr>
          <p:cNvPr id="122" name="object 63">
            <a:extLst>
              <a:ext uri="{FF2B5EF4-FFF2-40B4-BE49-F238E27FC236}">
                <a16:creationId xmlns:a16="http://schemas.microsoft.com/office/drawing/2014/main" id="{B589EB7D-B26E-4239-A5C2-F96DBBE82162}"/>
              </a:ext>
            </a:extLst>
          </p:cNvPr>
          <p:cNvSpPr txBox="1"/>
          <p:nvPr/>
        </p:nvSpPr>
        <p:spPr>
          <a:xfrm>
            <a:off x="8706378" y="3990085"/>
            <a:ext cx="1380175" cy="228909"/>
          </a:xfrm>
          <a:prstGeom prst="rect">
            <a:avLst/>
          </a:prstGeom>
        </p:spPr>
        <p:txBody>
          <a:bodyPr vert="horz" wrap="square" lIns="0" tIns="13335" rIns="0" bIns="0" rtlCol="0">
            <a:spAutoFit/>
          </a:bodyPr>
          <a:lstStyle/>
          <a:p>
            <a:pPr marR="3175">
              <a:lnSpc>
                <a:spcPct val="100000"/>
              </a:lnSpc>
              <a:spcBef>
                <a:spcPts val="105"/>
              </a:spcBef>
            </a:pPr>
            <a:r>
              <a:rPr lang="es-ES" sz="1400" spc="-10" noProof="0" dirty="0" err="1">
                <a:latin typeface="Calibri"/>
                <a:cs typeface="Calibri"/>
              </a:rPr>
              <a:t>h_core</a:t>
            </a:r>
            <a:r>
              <a:rPr lang="es-ES" sz="1400" spc="-10" noProof="0" dirty="0">
                <a:latin typeface="Calibri"/>
                <a:cs typeface="Calibri"/>
              </a:rPr>
              <a:t> </a:t>
            </a:r>
            <a:endParaRPr lang="es-ES" sz="1400" noProof="0" dirty="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9306491" y="5257071"/>
            <a:ext cx="1980542" cy="369332"/>
          </a:xfrm>
          <a:prstGeom prst="rect">
            <a:avLst/>
          </a:prstGeom>
          <a:noFill/>
        </p:spPr>
        <p:txBody>
          <a:bodyPr wrap="none" rtlCol="0">
            <a:spAutoFit/>
          </a:bodyPr>
          <a:lstStyle/>
          <a:p>
            <a:pPr algn="ctr"/>
            <a:r>
              <a:rPr lang="es-ES" b="1" noProof="0" dirty="0" err="1"/>
              <a:t>shallow</a:t>
            </a:r>
            <a:r>
              <a:rPr lang="es-ES" noProof="0" dirty="0"/>
              <a:t> </a:t>
            </a:r>
            <a:r>
              <a:rPr lang="es-ES" noProof="0" dirty="0" err="1"/>
              <a:t>waveguide</a:t>
            </a:r>
            <a:endParaRPr lang="es-ES" noProof="0" dirty="0"/>
          </a:p>
        </p:txBody>
      </p:sp>
      <p:sp>
        <p:nvSpPr>
          <p:cNvPr id="8" name="CuadroTexto 7">
            <a:extLst>
              <a:ext uri="{FF2B5EF4-FFF2-40B4-BE49-F238E27FC236}">
                <a16:creationId xmlns:a16="http://schemas.microsoft.com/office/drawing/2014/main" id="{7336B5D8-2D70-3E7A-336D-AF55EC49DEB8}"/>
              </a:ext>
            </a:extLst>
          </p:cNvPr>
          <p:cNvSpPr txBox="1"/>
          <p:nvPr/>
        </p:nvSpPr>
        <p:spPr>
          <a:xfrm>
            <a:off x="2969899" y="5257071"/>
            <a:ext cx="2157554" cy="369332"/>
          </a:xfrm>
          <a:prstGeom prst="rect">
            <a:avLst/>
          </a:prstGeom>
          <a:noFill/>
        </p:spPr>
        <p:txBody>
          <a:bodyPr wrap="square">
            <a:spAutoFit/>
          </a:bodyPr>
          <a:lstStyle/>
          <a:p>
            <a:pPr algn="ctr"/>
            <a:r>
              <a:rPr lang="es-ES" b="1" noProof="0" dirty="0" err="1"/>
              <a:t>deep</a:t>
            </a:r>
            <a:r>
              <a:rPr lang="es-ES" noProof="0" dirty="0"/>
              <a:t> </a:t>
            </a:r>
            <a:r>
              <a:rPr lang="es-ES" noProof="0" dirty="0" err="1"/>
              <a:t>waveguide</a:t>
            </a:r>
            <a:endParaRPr lang="es-ES" noProof="0" dirty="0"/>
          </a:p>
        </p:txBody>
      </p:sp>
    </p:spTree>
    <p:extLst>
      <p:ext uri="{BB962C8B-B14F-4D97-AF65-F5344CB8AC3E}">
        <p14:creationId xmlns:p14="http://schemas.microsoft.com/office/powerpoint/2010/main" val="473922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s-ES" sz="2500" noProof="0" dirty="0" err="1"/>
              <a:t>Learning</a:t>
            </a:r>
            <a:r>
              <a:rPr lang="es-ES" sz="2500" noProof="0" dirty="0"/>
              <a:t> </a:t>
            </a:r>
            <a:r>
              <a:rPr lang="es-ES" sz="2500" noProof="0" dirty="0" err="1"/>
              <a:t>outcome</a:t>
            </a:r>
            <a:r>
              <a:rPr lang="es-ES" sz="2500" noProof="0" dirty="0"/>
              <a:t> #1 – </a:t>
            </a:r>
            <a:r>
              <a:rPr lang="es-ES" sz="2500" noProof="0" dirty="0" err="1"/>
              <a:t>Effective</a:t>
            </a:r>
            <a:r>
              <a:rPr lang="es-ES" sz="2500" noProof="0" dirty="0"/>
              <a:t> </a:t>
            </a:r>
            <a:r>
              <a:rPr lang="es-ES" sz="2500" noProof="0" dirty="0" err="1"/>
              <a:t>index</a:t>
            </a:r>
            <a:r>
              <a:rPr lang="es-ES" sz="2500" noProof="0" dirty="0"/>
              <a:t> </a:t>
            </a:r>
            <a:r>
              <a:rPr lang="es-ES" sz="2500" noProof="0" dirty="0" err="1"/>
              <a:t>of</a:t>
            </a:r>
            <a:r>
              <a:rPr lang="es-ES" sz="2500" noProof="0" dirty="0"/>
              <a:t> a </a:t>
            </a:r>
            <a:r>
              <a:rPr lang="es-ES" sz="2500" noProof="0" dirty="0" err="1"/>
              <a:t>waveguide</a:t>
            </a:r>
            <a:br>
              <a:rPr lang="es-ES" sz="2500" spc="-5" noProof="0" dirty="0">
                <a:latin typeface="+mj-lt"/>
                <a:cs typeface="Lucida Sans"/>
              </a:rPr>
            </a:br>
            <a:endParaRPr lang="es-ES" sz="2500" b="0" noProof="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noProof="0" smtClean="0"/>
              <a:t>3</a:t>
            </a:fld>
            <a:endParaRPr lang="es-ES" noProof="0" dirty="0"/>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noProof="0" dirty="0"/>
              <a:t>LAB 1.0 WAVEGUIDES</a:t>
            </a:r>
          </a:p>
        </p:txBody>
      </p:sp>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s-ES" sz="2000" b="1" noProof="0" dirty="0"/>
              <a:t>INSTRUCTOR:</a:t>
            </a:r>
          </a:p>
          <a:p>
            <a:pPr marL="342900" indent="-342900" algn="just">
              <a:buFont typeface="Arial" panose="020B0604020202020204" pitchFamily="34" charset="0"/>
              <a:buChar char="•"/>
            </a:pPr>
            <a:r>
              <a:rPr lang="es-ES" sz="2000" noProof="0" dirty="0" err="1"/>
              <a:t>Present</a:t>
            </a:r>
            <a:r>
              <a:rPr lang="es-ES" sz="2000" noProof="0" dirty="0"/>
              <a:t> Python and </a:t>
            </a:r>
            <a:r>
              <a:rPr lang="es-ES" sz="2000" noProof="0" dirty="0" err="1"/>
              <a:t>GDSFactory</a:t>
            </a:r>
            <a:r>
              <a:rPr lang="es-ES" sz="2000" noProof="0" dirty="0"/>
              <a:t>: </a:t>
            </a:r>
            <a:r>
              <a:rPr lang="es-ES" sz="2000" noProof="0" dirty="0" err="1"/>
              <a:t>materials</a:t>
            </a:r>
            <a:r>
              <a:rPr lang="es-ES" sz="2000" noProof="0" dirty="0"/>
              <a:t>, output, </a:t>
            </a:r>
            <a:r>
              <a:rPr lang="es-ES" sz="2000" noProof="0" dirty="0" err="1"/>
              <a:t>results</a:t>
            </a:r>
            <a:r>
              <a:rPr lang="es-ES" sz="2000" noProof="0" dirty="0"/>
              <a:t>.</a:t>
            </a:r>
          </a:p>
          <a:p>
            <a:pPr marL="342900" indent="-342900" algn="just">
              <a:buFont typeface="Arial" panose="020B0604020202020204" pitchFamily="34" charset="0"/>
              <a:buChar char="•"/>
            </a:pPr>
            <a:r>
              <a:rPr lang="es-ES" sz="2000" noProof="0" dirty="0" err="1"/>
              <a:t>Explain</a:t>
            </a:r>
            <a:r>
              <a:rPr lang="es-ES" sz="2000" noProof="0" dirty="0"/>
              <a:t> </a:t>
            </a:r>
            <a:r>
              <a:rPr lang="es-ES" sz="2000" noProof="0" dirty="0" err="1"/>
              <a:t>how</a:t>
            </a:r>
            <a:r>
              <a:rPr lang="es-ES" sz="2000" noProof="0" dirty="0"/>
              <a:t> </a:t>
            </a:r>
            <a:r>
              <a:rPr lang="es-ES" sz="2000" noProof="0" dirty="0" err="1"/>
              <a:t>to</a:t>
            </a:r>
            <a:r>
              <a:rPr lang="es-ES" sz="2000" noProof="0" dirty="0"/>
              <a:t> run a </a:t>
            </a:r>
            <a:r>
              <a:rPr lang="es-ES" sz="2000" noProof="0" dirty="0" err="1"/>
              <a:t>simulation</a:t>
            </a:r>
            <a:r>
              <a:rPr lang="es-ES" sz="2000" noProof="0" dirty="0"/>
              <a:t> </a:t>
            </a:r>
            <a:r>
              <a:rPr lang="es-ES" sz="2000" noProof="0" dirty="0" err="1"/>
              <a:t>for</a:t>
            </a:r>
            <a:r>
              <a:rPr lang="es-ES" sz="2000" noProof="0" dirty="0"/>
              <a:t> a particular </a:t>
            </a:r>
            <a:r>
              <a:rPr lang="es-ES" sz="2000" noProof="0" dirty="0" err="1"/>
              <a:t>cross-section</a:t>
            </a:r>
            <a:r>
              <a:rPr lang="es-ES" sz="2000" noProof="0" dirty="0"/>
              <a:t>. </a:t>
            </a:r>
          </a:p>
          <a:p>
            <a:pPr marL="342900" indent="-342900" algn="just">
              <a:buFont typeface="Arial" panose="020B0604020202020204" pitchFamily="34" charset="0"/>
              <a:buChar char="•"/>
            </a:pPr>
            <a:r>
              <a:rPr lang="es-ES" sz="2000" noProof="0" dirty="0" err="1"/>
              <a:t>Showcase</a:t>
            </a:r>
            <a:r>
              <a:rPr lang="es-ES" sz="2000" noProof="0" dirty="0"/>
              <a:t> </a:t>
            </a:r>
            <a:r>
              <a:rPr lang="es-ES" sz="2000" noProof="0" dirty="0" err="1"/>
              <a:t>how</a:t>
            </a:r>
            <a:r>
              <a:rPr lang="es-ES" sz="2000" noProof="0" dirty="0"/>
              <a:t> </a:t>
            </a:r>
            <a:r>
              <a:rPr lang="es-ES" sz="2000" noProof="0" dirty="0" err="1"/>
              <a:t>to</a:t>
            </a:r>
            <a:r>
              <a:rPr lang="es-ES" sz="2000" noProof="0" dirty="0"/>
              <a:t> </a:t>
            </a:r>
            <a:r>
              <a:rPr lang="es-ES" sz="2000" noProof="0" dirty="0" err="1"/>
              <a:t>change</a:t>
            </a:r>
            <a:r>
              <a:rPr lang="es-ES" sz="2000" noProof="0" dirty="0"/>
              <a:t> </a:t>
            </a:r>
            <a:r>
              <a:rPr lang="es-ES" sz="2000" noProof="0" dirty="0" err="1"/>
              <a:t>between</a:t>
            </a:r>
            <a:r>
              <a:rPr lang="es-ES" sz="2000" noProof="0" dirty="0"/>
              <a:t> </a:t>
            </a:r>
            <a:r>
              <a:rPr lang="es-ES" sz="2000" noProof="0" dirty="0" err="1"/>
              <a:t>shallow</a:t>
            </a:r>
            <a:r>
              <a:rPr lang="es-ES" sz="2000" noProof="0" dirty="0"/>
              <a:t> and </a:t>
            </a:r>
            <a:r>
              <a:rPr lang="es-ES" sz="2000" noProof="0" dirty="0" err="1"/>
              <a:t>deep</a:t>
            </a:r>
            <a:r>
              <a:rPr lang="es-ES" sz="2000" noProof="0" dirty="0"/>
              <a:t> </a:t>
            </a:r>
            <a:r>
              <a:rPr lang="es-ES" sz="2000" noProof="0" dirty="0" err="1"/>
              <a:t>waveguide</a:t>
            </a:r>
            <a:r>
              <a:rPr lang="es-ES" sz="2000" noProof="0" dirty="0"/>
              <a:t>.</a:t>
            </a:r>
          </a:p>
          <a:p>
            <a:pPr marL="342900" indent="-342900" algn="just">
              <a:buFont typeface="Arial" panose="020B0604020202020204" pitchFamily="34" charset="0"/>
              <a:buChar char="•"/>
            </a:pPr>
            <a:r>
              <a:rPr lang="es-ES" sz="2000" noProof="0" dirty="0"/>
              <a:t>Describe </a:t>
            </a:r>
            <a:r>
              <a:rPr lang="es-ES" sz="2000" noProof="0" dirty="0" err="1"/>
              <a:t>how</a:t>
            </a:r>
            <a:r>
              <a:rPr lang="es-ES" sz="2000" noProof="0" dirty="0"/>
              <a:t> </a:t>
            </a:r>
            <a:r>
              <a:rPr lang="es-ES" sz="2000" noProof="0" dirty="0" err="1"/>
              <a:t>to</a:t>
            </a:r>
            <a:r>
              <a:rPr lang="es-ES" sz="2000" noProof="0" dirty="0"/>
              <a:t> </a:t>
            </a:r>
            <a:r>
              <a:rPr lang="es-ES" sz="2000" noProof="0" dirty="0" err="1"/>
              <a:t>change</a:t>
            </a:r>
            <a:r>
              <a:rPr lang="es-ES" sz="2000" noProof="0" dirty="0"/>
              <a:t> </a:t>
            </a:r>
            <a:r>
              <a:rPr lang="es-ES" sz="2000" noProof="0" dirty="0" err="1"/>
              <a:t>the</a:t>
            </a:r>
            <a:r>
              <a:rPr lang="es-ES" sz="2000" noProof="0" dirty="0"/>
              <a:t> </a:t>
            </a:r>
            <a:r>
              <a:rPr lang="es-ES" sz="2000" noProof="0" dirty="0" err="1"/>
              <a:t>wavelength</a:t>
            </a:r>
            <a:r>
              <a:rPr lang="es-ES" sz="2000" noProof="0" dirty="0"/>
              <a:t> and </a:t>
            </a:r>
            <a:r>
              <a:rPr lang="es-ES" sz="2000" noProof="0" dirty="0" err="1"/>
              <a:t>width</a:t>
            </a:r>
            <a:r>
              <a:rPr lang="es-ES" sz="2000" noProof="0" dirty="0"/>
              <a:t> </a:t>
            </a:r>
            <a:r>
              <a:rPr lang="es-ES" sz="2000" noProof="0" dirty="0" err="1"/>
              <a:t>for</a:t>
            </a:r>
            <a:r>
              <a:rPr lang="es-ES" sz="2000" noProof="0" dirty="0"/>
              <a:t> </a:t>
            </a:r>
            <a:r>
              <a:rPr lang="es-ES" sz="2000" noProof="0" dirty="0" err="1"/>
              <a:t>the</a:t>
            </a:r>
            <a:r>
              <a:rPr lang="es-ES" sz="2000" noProof="0" dirty="0"/>
              <a:t> </a:t>
            </a:r>
            <a:r>
              <a:rPr lang="es-ES" sz="2000" noProof="0" dirty="0" err="1"/>
              <a:t>waveguide</a:t>
            </a:r>
            <a:r>
              <a:rPr lang="es-ES" sz="2000" noProof="0" dirty="0"/>
              <a:t> </a:t>
            </a:r>
            <a:r>
              <a:rPr lang="es-ES" sz="2000" noProof="0" dirty="0" err="1"/>
              <a:t>analysis</a:t>
            </a:r>
            <a:r>
              <a:rPr lang="es-ES" sz="2000" noProof="0" dirty="0"/>
              <a:t>.</a:t>
            </a:r>
          </a:p>
          <a:p>
            <a:pPr marL="342900" indent="-342900" algn="just">
              <a:buFont typeface="Arial" panose="020B0604020202020204" pitchFamily="34" charset="0"/>
              <a:buChar char="•"/>
            </a:pPr>
            <a:r>
              <a:rPr lang="es-ES" sz="2000" noProof="0" dirty="0"/>
              <a:t>Describe </a:t>
            </a:r>
            <a:r>
              <a:rPr lang="es-ES" sz="2000" noProof="0" dirty="0" err="1"/>
              <a:t>the</a:t>
            </a:r>
            <a:r>
              <a:rPr lang="es-ES" sz="2000" noProof="0" dirty="0"/>
              <a:t> outputs.</a:t>
            </a:r>
          </a:p>
          <a:p>
            <a:pPr marL="0" indent="0" algn="just">
              <a:buNone/>
            </a:pPr>
            <a:r>
              <a:rPr lang="es-ES" sz="2000" b="1" noProof="0" dirty="0"/>
              <a:t>ALL EXAMPLE #1: </a:t>
            </a:r>
            <a:r>
              <a:rPr lang="es-ES" sz="2000" noProof="0" dirty="0" err="1"/>
              <a:t>waveguide</a:t>
            </a:r>
            <a:r>
              <a:rPr lang="es-ES" sz="2000" noProof="0" dirty="0"/>
              <a:t> </a:t>
            </a:r>
            <a:r>
              <a:rPr lang="es-ES" sz="2000" noProof="0" dirty="0" err="1"/>
              <a:t>width</a:t>
            </a:r>
            <a:r>
              <a:rPr lang="es-ES" sz="2000" noProof="0" dirty="0"/>
              <a:t> 1.2 µm, </a:t>
            </a:r>
            <a:r>
              <a:rPr lang="es-ES" sz="2000" noProof="0" dirty="0" err="1"/>
              <a:t>deep</a:t>
            </a:r>
            <a:r>
              <a:rPr lang="es-ES" sz="2000" noProof="0" dirty="0"/>
              <a:t> </a:t>
            </a:r>
            <a:r>
              <a:rPr lang="es-ES" sz="2000" noProof="0" dirty="0" err="1"/>
              <a:t>wvg</a:t>
            </a:r>
            <a:r>
              <a:rPr lang="es-ES" sz="2000" noProof="0" dirty="0"/>
              <a:t>, </a:t>
            </a:r>
            <a:r>
              <a:rPr lang="es-ES" sz="2000" noProof="0" dirty="0" err="1"/>
              <a:t>wavelength</a:t>
            </a:r>
            <a:r>
              <a:rPr lang="es-ES" sz="2000" noProof="0" dirty="0"/>
              <a:t> </a:t>
            </a:r>
            <a:r>
              <a:rPr lang="es-ES" sz="2000" noProof="0" dirty="0" err="1"/>
              <a:t>start</a:t>
            </a:r>
            <a:r>
              <a:rPr lang="es-ES" sz="2000" noProof="0" dirty="0"/>
              <a:t> and </a:t>
            </a:r>
            <a:r>
              <a:rPr lang="es-ES" sz="2000" noProof="0" dirty="0" err="1"/>
              <a:t>end</a:t>
            </a:r>
            <a:r>
              <a:rPr lang="es-ES" sz="2000" noProof="0" dirty="0"/>
              <a:t> </a:t>
            </a:r>
            <a:r>
              <a:rPr lang="es-ES" sz="2000" noProof="0" dirty="0" err="1"/>
              <a:t>same</a:t>
            </a:r>
            <a:r>
              <a:rPr lang="es-ES" sz="2000" noProof="0" dirty="0"/>
              <a:t> 1.55 µm </a:t>
            </a:r>
            <a:r>
              <a:rPr lang="es-ES" sz="2000" noProof="0" dirty="0">
                <a:sym typeface="Wingdings" pitchFamily="2" charset="2"/>
              </a:rPr>
              <a:t> </a:t>
            </a:r>
            <a:r>
              <a:rPr lang="es-ES" sz="2000" noProof="0" dirty="0" err="1">
                <a:sym typeface="Wingdings" pitchFamily="2" charset="2"/>
              </a:rPr>
              <a:t>all</a:t>
            </a:r>
            <a:r>
              <a:rPr lang="es-ES" sz="2000" noProof="0" dirty="0">
                <a:sym typeface="Wingdings" pitchFamily="2" charset="2"/>
              </a:rPr>
              <a:t> ”Run”</a:t>
            </a:r>
            <a:endParaRPr lang="es-ES" sz="2000" noProof="0" dirty="0"/>
          </a:p>
          <a:p>
            <a:pPr marL="0" indent="0" algn="just">
              <a:buNone/>
            </a:pPr>
            <a:r>
              <a:rPr lang="es-ES" sz="2000" b="1" noProof="0" dirty="0"/>
              <a:t>ALL: </a:t>
            </a:r>
            <a:r>
              <a:rPr lang="es-ES" sz="2000" noProof="0" dirty="0" err="1"/>
              <a:t>Follow</a:t>
            </a:r>
            <a:r>
              <a:rPr lang="es-ES" sz="2000" b="1" noProof="0" dirty="0"/>
              <a:t> </a:t>
            </a:r>
            <a:r>
              <a:rPr lang="es-ES" sz="2000" noProof="0" dirty="0"/>
              <a:t>instructor, </a:t>
            </a:r>
            <a:r>
              <a:rPr lang="es-ES" sz="2000" noProof="0" dirty="0" err="1"/>
              <a:t>that</a:t>
            </a:r>
            <a:r>
              <a:rPr lang="es-ES" sz="2000" noProof="0" dirty="0"/>
              <a:t> </a:t>
            </a:r>
            <a:r>
              <a:rPr lang="es-ES" sz="2000" noProof="0" dirty="0" err="1"/>
              <a:t>will</a:t>
            </a:r>
            <a:r>
              <a:rPr lang="es-ES" sz="2000" noProof="0" dirty="0"/>
              <a:t> show </a:t>
            </a:r>
            <a:r>
              <a:rPr lang="es-ES" sz="2000" noProof="0" dirty="0" err="1"/>
              <a:t>how</a:t>
            </a:r>
            <a:r>
              <a:rPr lang="es-ES" sz="2000" noProof="0" dirty="0"/>
              <a:t> </a:t>
            </a:r>
            <a:r>
              <a:rPr lang="es-ES" sz="2000" noProof="0" dirty="0" err="1"/>
              <a:t>to</a:t>
            </a:r>
            <a:r>
              <a:rPr lang="es-ES" sz="2000" noProof="0" dirty="0"/>
              <a:t> 1) </a:t>
            </a:r>
            <a:r>
              <a:rPr lang="es-ES" sz="2000" noProof="0" dirty="0" err="1"/>
              <a:t>plot</a:t>
            </a:r>
            <a:r>
              <a:rPr lang="es-ES" sz="2000" noProof="0" dirty="0"/>
              <a:t> </a:t>
            </a:r>
            <a:r>
              <a:rPr lang="es-ES" sz="2000" noProof="0" dirty="0" err="1"/>
              <a:t>mode</a:t>
            </a:r>
            <a:r>
              <a:rPr lang="es-ES" sz="2000" noProof="0" dirty="0"/>
              <a:t>, 2) explore </a:t>
            </a:r>
            <a:r>
              <a:rPr lang="es-ES" sz="2000" noProof="0" dirty="0" err="1"/>
              <a:t>the</a:t>
            </a:r>
            <a:r>
              <a:rPr lang="es-ES" sz="2000" noProof="0" dirty="0"/>
              <a:t> </a:t>
            </a:r>
            <a:r>
              <a:rPr lang="es-ES" sz="2000" noProof="0" dirty="0" err="1"/>
              <a:t>results</a:t>
            </a:r>
            <a:r>
              <a:rPr lang="es-ES" sz="2000" noProof="0" dirty="0"/>
              <a:t> (</a:t>
            </a:r>
            <a:r>
              <a:rPr lang="es-ES" sz="2000" noProof="0" dirty="0" err="1"/>
              <a:t>neff</a:t>
            </a:r>
            <a:r>
              <a:rPr lang="es-ES" sz="2000" noProof="0" dirty="0"/>
              <a:t> …)</a:t>
            </a:r>
          </a:p>
          <a:p>
            <a:pPr algn="just"/>
            <a:endParaRPr lang="es-ES" sz="2000" b="1" i="1" noProof="0" dirty="0"/>
          </a:p>
          <a:p>
            <a:pPr algn="just"/>
            <a:endParaRPr lang="es-ES" sz="2000" kern="0" noProof="0" dirty="0">
              <a:solidFill>
                <a:sysClr val="windowText" lastClr="000000"/>
              </a:solidFill>
            </a:endParaRPr>
          </a:p>
        </p:txBody>
      </p:sp>
      <p:sp>
        <p:nvSpPr>
          <p:cNvPr id="2" name="CuadroTexto 1">
            <a:extLst>
              <a:ext uri="{FF2B5EF4-FFF2-40B4-BE49-F238E27FC236}">
                <a16:creationId xmlns:a16="http://schemas.microsoft.com/office/drawing/2014/main" id="{D0F8CF3B-B920-DBFC-F825-0C87B51EADA7}"/>
              </a:ext>
            </a:extLst>
          </p:cNvPr>
          <p:cNvSpPr txBox="1"/>
          <p:nvPr/>
        </p:nvSpPr>
        <p:spPr>
          <a:xfrm>
            <a:off x="534989" y="4844773"/>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s-ES" sz="1200" noProof="0" dirty="0" err="1">
                <a:latin typeface="Arial" panose="020B0604020202020204" pitchFamily="34" charset="0"/>
                <a:cs typeface="Arial" panose="020B0604020202020204" pitchFamily="34" charset="0"/>
              </a:rPr>
              <a:t>Document</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all</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your</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results</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neff</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plot</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fields</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of</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different</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modes</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comparison</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between</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different</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polarizations</a:t>
            </a:r>
            <a:r>
              <a:rPr lang="es-ES" sz="1200" noProof="0" dirty="0">
                <a:latin typeface="Arial" panose="020B0604020202020204" pitchFamily="34" charset="0"/>
                <a:cs typeface="Arial" panose="020B0604020202020204" pitchFamily="34" charset="0"/>
              </a:rPr>
              <a:t>…)</a:t>
            </a:r>
          </a:p>
          <a:p>
            <a:pPr algn="just"/>
            <a:endParaRPr lang="es-ES" sz="1200" noProof="0" dirty="0">
              <a:latin typeface="Arial" panose="020B0604020202020204" pitchFamily="34" charset="0"/>
              <a:cs typeface="Arial" panose="020B0604020202020204" pitchFamily="34" charset="0"/>
            </a:endParaRPr>
          </a:p>
          <a:p>
            <a:pPr algn="just"/>
            <a:r>
              <a:rPr lang="es-ES" sz="1200" noProof="0" dirty="0">
                <a:latin typeface="Arial" panose="020B0604020202020204" pitchFamily="34" charset="0"/>
                <a:cs typeface="Arial" panose="020B0604020202020204" pitchFamily="34" charset="0"/>
              </a:rPr>
              <a:t>En el primer punto se consideran los materiales más comunes en circuitos fotónicos integrados:</a:t>
            </a:r>
          </a:p>
          <a:p>
            <a:pPr marL="171450" indent="-171450" algn="just">
              <a:buFontTx/>
              <a:buChar char="-"/>
            </a:pPr>
            <a:r>
              <a:rPr lang="es-ES" sz="1200" noProof="0" dirty="0">
                <a:latin typeface="Arial" panose="020B0604020202020204" pitchFamily="34" charset="0"/>
                <a:cs typeface="Arial" panose="020B0604020202020204" pitchFamily="34" charset="0"/>
              </a:rPr>
              <a:t>Silicon (Si)</a:t>
            </a:r>
          </a:p>
          <a:p>
            <a:pPr marL="171450" indent="-171450" algn="just">
              <a:buFontTx/>
              <a:buChar char="-"/>
            </a:pPr>
            <a:r>
              <a:rPr lang="es-ES" sz="1200" noProof="0" dirty="0">
                <a:latin typeface="Arial" panose="020B0604020202020204" pitchFamily="34" charset="0"/>
                <a:cs typeface="Arial" panose="020B0604020202020204" pitchFamily="34" charset="0"/>
              </a:rPr>
              <a:t>Silicon </a:t>
            </a:r>
            <a:r>
              <a:rPr lang="es-ES" sz="1200" noProof="0" dirty="0" err="1">
                <a:latin typeface="Arial" panose="020B0604020202020204" pitchFamily="34" charset="0"/>
                <a:cs typeface="Arial" panose="020B0604020202020204" pitchFamily="34" charset="0"/>
              </a:rPr>
              <a:t>Nitride</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SiNx</a:t>
            </a:r>
            <a:r>
              <a:rPr lang="es-ES" sz="1200" noProof="0" dirty="0">
                <a:latin typeface="Arial" panose="020B0604020202020204" pitchFamily="34" charset="0"/>
                <a:cs typeface="Arial" panose="020B0604020202020204" pitchFamily="34" charset="0"/>
              </a:rPr>
              <a:t>)</a:t>
            </a:r>
          </a:p>
          <a:p>
            <a:pPr marL="171450" indent="-171450" algn="just">
              <a:buFontTx/>
              <a:buChar char="-"/>
            </a:pPr>
            <a:r>
              <a:rPr lang="es-ES" sz="1200" noProof="0" dirty="0">
                <a:latin typeface="Arial" panose="020B0604020202020204" pitchFamily="34" charset="0"/>
                <a:cs typeface="Arial" panose="020B0604020202020204" pitchFamily="34" charset="0"/>
              </a:rPr>
              <a:t>Silicon </a:t>
            </a:r>
            <a:r>
              <a:rPr lang="es-ES" sz="1200" noProof="0" dirty="0" err="1">
                <a:latin typeface="Arial" panose="020B0604020202020204" pitchFamily="34" charset="0"/>
                <a:cs typeface="Arial" panose="020B0604020202020204" pitchFamily="34" charset="0"/>
              </a:rPr>
              <a:t>Dioxide</a:t>
            </a:r>
            <a:r>
              <a:rPr lang="es-ES" sz="1200" noProof="0" dirty="0">
                <a:latin typeface="Arial" panose="020B0604020202020204" pitchFamily="34" charset="0"/>
                <a:cs typeface="Arial" panose="020B0604020202020204" pitchFamily="34" charset="0"/>
              </a:rPr>
              <a:t> (SiO2)</a:t>
            </a:r>
          </a:p>
          <a:p>
            <a:pPr marL="171450" indent="-171450" algn="just">
              <a:buFontTx/>
              <a:buChar char="-"/>
            </a:pPr>
            <a:endParaRPr lang="es-ES" sz="1200" noProof="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AC3889-240F-45AE-17FC-B0E794873FD4}"/>
              </a:ext>
            </a:extLst>
          </p:cNvPr>
          <p:cNvSpPr>
            <a:spLocks noGrp="1"/>
          </p:cNvSpPr>
          <p:nvPr>
            <p:ph type="title"/>
          </p:nvPr>
        </p:nvSpPr>
        <p:spPr>
          <a:xfrm>
            <a:off x="590550" y="206752"/>
            <a:ext cx="10991850" cy="615553"/>
          </a:xfrm>
        </p:spPr>
        <p:txBody>
          <a:bodyPr/>
          <a:lstStyle/>
          <a:p>
            <a:r>
              <a:rPr lang="es-ES" noProof="0" dirty="0" err="1"/>
              <a:t>Learning</a:t>
            </a:r>
            <a:r>
              <a:rPr lang="es-ES" noProof="0" dirty="0"/>
              <a:t> </a:t>
            </a:r>
            <a:r>
              <a:rPr lang="es-ES" noProof="0" dirty="0" err="1"/>
              <a:t>outcome</a:t>
            </a:r>
            <a:r>
              <a:rPr lang="es-ES" noProof="0" dirty="0"/>
              <a:t> #1 – </a:t>
            </a:r>
            <a:r>
              <a:rPr lang="es-ES" noProof="0" dirty="0" err="1"/>
              <a:t>Effective</a:t>
            </a:r>
            <a:r>
              <a:rPr lang="es-ES" noProof="0" dirty="0"/>
              <a:t> </a:t>
            </a:r>
            <a:r>
              <a:rPr lang="es-ES" noProof="0" dirty="0" err="1"/>
              <a:t>index</a:t>
            </a:r>
            <a:r>
              <a:rPr lang="es-ES" noProof="0" dirty="0"/>
              <a:t> </a:t>
            </a:r>
            <a:r>
              <a:rPr lang="es-ES" noProof="0" dirty="0" err="1"/>
              <a:t>of</a:t>
            </a:r>
            <a:r>
              <a:rPr lang="es-ES" noProof="0" dirty="0"/>
              <a:t> a </a:t>
            </a:r>
            <a:r>
              <a:rPr lang="es-ES" noProof="0" dirty="0" err="1"/>
              <a:t>waveguide</a:t>
            </a:r>
            <a:br>
              <a:rPr lang="es-ES" spc="-5" noProof="0" dirty="0">
                <a:cs typeface="Lucida Sans"/>
              </a:rPr>
            </a:br>
            <a:endParaRPr lang="es-ES" noProof="0" dirty="0"/>
          </a:p>
        </p:txBody>
      </p:sp>
      <p:sp>
        <p:nvSpPr>
          <p:cNvPr id="4" name="Marcador de pie de página 3">
            <a:extLst>
              <a:ext uri="{FF2B5EF4-FFF2-40B4-BE49-F238E27FC236}">
                <a16:creationId xmlns:a16="http://schemas.microsoft.com/office/drawing/2014/main" id="{8765FB71-45AE-3CCA-EC24-AE6BE09F7AAF}"/>
              </a:ext>
            </a:extLst>
          </p:cNvPr>
          <p:cNvSpPr>
            <a:spLocks noGrp="1"/>
          </p:cNvSpPr>
          <p:nvPr>
            <p:ph type="ftr" sz="quarter" idx="5"/>
          </p:nvPr>
        </p:nvSpPr>
        <p:spPr/>
        <p:txBody>
          <a:bodyPr/>
          <a:lstStyle/>
          <a:p>
            <a:pPr marL="12700">
              <a:spcBef>
                <a:spcPts val="15"/>
              </a:spcBef>
            </a:pPr>
            <a:r>
              <a:rPr lang="es-ES" spc="-5" noProof="0" dirty="0"/>
              <a:t>LAB 1.0 WAVEGUIDES</a:t>
            </a:r>
          </a:p>
        </p:txBody>
      </p:sp>
      <p:sp>
        <p:nvSpPr>
          <p:cNvPr id="5" name="Marcador de número de diapositiva 4">
            <a:extLst>
              <a:ext uri="{FF2B5EF4-FFF2-40B4-BE49-F238E27FC236}">
                <a16:creationId xmlns:a16="http://schemas.microsoft.com/office/drawing/2014/main" id="{73F1EAB5-4B87-7CF9-A555-633010552590}"/>
              </a:ext>
            </a:extLst>
          </p:cNvPr>
          <p:cNvSpPr>
            <a:spLocks noGrp="1"/>
          </p:cNvSpPr>
          <p:nvPr>
            <p:ph type="sldNum" sz="quarter" idx="7"/>
          </p:nvPr>
        </p:nvSpPr>
        <p:spPr/>
        <p:txBody>
          <a:bodyPr/>
          <a:lstStyle/>
          <a:p>
            <a:fld id="{B6F15528-21DE-4FAA-801E-634DDDAF4B2B}" type="slidenum">
              <a:rPr lang="es-ES" noProof="0" smtClean="0"/>
              <a:t>4</a:t>
            </a:fld>
            <a:endParaRPr lang="es-ES" noProof="0" dirty="0"/>
          </a:p>
        </p:txBody>
      </p:sp>
      <p:sp>
        <p:nvSpPr>
          <p:cNvPr id="6" name="CuadroTexto 5">
            <a:extLst>
              <a:ext uri="{FF2B5EF4-FFF2-40B4-BE49-F238E27FC236}">
                <a16:creationId xmlns:a16="http://schemas.microsoft.com/office/drawing/2014/main" id="{A334BAB3-231A-07B5-4A6D-40E59921FC31}"/>
              </a:ext>
            </a:extLst>
          </p:cNvPr>
          <p:cNvSpPr txBox="1"/>
          <p:nvPr/>
        </p:nvSpPr>
        <p:spPr>
          <a:xfrm>
            <a:off x="486489" y="531306"/>
            <a:ext cx="11199971" cy="5816977"/>
          </a:xfrm>
          <a:prstGeom prst="rect">
            <a:avLst/>
          </a:prstGeom>
          <a:solidFill>
            <a:schemeClr val="bg1">
              <a:lumMod val="95000"/>
            </a:schemeClr>
          </a:solidFill>
          <a:ln w="28575">
            <a:solidFill>
              <a:srgbClr val="E0700D"/>
            </a:solidFill>
          </a:ln>
        </p:spPr>
        <p:txBody>
          <a:bodyPr wrap="square" rtlCol="0">
            <a:spAutoFit/>
          </a:bodyPr>
          <a:lstStyle/>
          <a:p>
            <a:pPr algn="just"/>
            <a:r>
              <a:rPr lang="es-ES" sz="1200" noProof="0" dirty="0" err="1">
                <a:latin typeface="Arial" panose="020B0604020202020204" pitchFamily="34" charset="0"/>
                <a:cs typeface="Arial" panose="020B0604020202020204" pitchFamily="34" charset="0"/>
              </a:rPr>
              <a:t>Document</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all</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your</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results</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neff</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plot</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fields</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of</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different</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modes</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comparison</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between</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different</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polarizations</a:t>
            </a:r>
            <a:r>
              <a:rPr lang="es-ES" sz="1200" noProof="0" dirty="0">
                <a:latin typeface="Arial" panose="020B0604020202020204" pitchFamily="34" charset="0"/>
                <a:cs typeface="Arial" panose="020B0604020202020204" pitchFamily="34" charset="0"/>
              </a:rPr>
              <a:t>…)</a:t>
            </a:r>
          </a:p>
          <a:p>
            <a:pPr algn="just"/>
            <a:endParaRPr lang="es-ES" sz="1200" noProof="0" dirty="0">
              <a:latin typeface="Arial" panose="020B0604020202020204" pitchFamily="34" charset="0"/>
              <a:cs typeface="Arial" panose="020B0604020202020204" pitchFamily="34" charset="0"/>
            </a:endParaRPr>
          </a:p>
          <a:p>
            <a:pPr algn="just"/>
            <a:r>
              <a:rPr lang="es-ES" sz="1200" b="1" noProof="0" dirty="0">
                <a:latin typeface="Arial" panose="020B0604020202020204" pitchFamily="34" charset="0"/>
                <a:cs typeface="Arial" panose="020B0604020202020204" pitchFamily="34" charset="0"/>
              </a:rPr>
              <a:t>Silicon (Si) </a:t>
            </a:r>
            <a:r>
              <a:rPr lang="es-ES" sz="1200" b="1" noProof="0" dirty="0">
                <a:latin typeface="Arial" panose="020B0604020202020204" pitchFamily="34" charset="0"/>
                <a:cs typeface="Arial" panose="020B0604020202020204" pitchFamily="34" charset="0"/>
                <a:sym typeface="Wingdings" panose="05000000000000000000" pitchFamily="2" charset="2"/>
              </a:rPr>
              <a:t> </a:t>
            </a:r>
            <a:r>
              <a:rPr lang="es-ES" sz="1200" b="1" noProof="0" dirty="0">
                <a:latin typeface="Arial" panose="020B0604020202020204" pitchFamily="34" charset="0"/>
                <a:cs typeface="Arial" panose="020B0604020202020204" pitchFamily="34" charset="0"/>
              </a:rPr>
              <a:t>Características ópticas (</a:t>
            </a:r>
            <a:r>
              <a:rPr lang="es-ES" sz="1200" b="1" noProof="0" dirty="0"/>
              <a:t>λ =1.55 µm</a:t>
            </a:r>
            <a:r>
              <a:rPr lang="es-ES" sz="1200" b="1" noProof="0" dirty="0">
                <a:latin typeface="Arial" panose="020B0604020202020204" pitchFamily="34" charset="0"/>
                <a:cs typeface="Arial" panose="020B0604020202020204" pitchFamily="34" charset="0"/>
              </a:rPr>
              <a:t>), </a:t>
            </a:r>
            <a:r>
              <a:rPr lang="es-ES" sz="1200" noProof="0" dirty="0">
                <a:latin typeface="Arial" panose="020B0604020202020204" pitchFamily="34" charset="0"/>
                <a:cs typeface="Arial" panose="020B0604020202020204" pitchFamily="34" charset="0"/>
              </a:rPr>
              <a:t>tenemos un índice de refracción aproximado de n= 3.48, lo que nos indica que es un material de alto índice. Además, la guía </a:t>
            </a:r>
            <a:r>
              <a:rPr lang="es-ES" sz="1200" noProof="0" dirty="0" err="1">
                <a:latin typeface="Arial" panose="020B0604020202020204" pitchFamily="34" charset="0"/>
                <a:cs typeface="Arial" panose="020B0604020202020204" pitchFamily="34" charset="0"/>
              </a:rPr>
              <a:t>actua</a:t>
            </a:r>
            <a:r>
              <a:rPr lang="es-ES" sz="1200" noProof="0" dirty="0">
                <a:latin typeface="Arial" panose="020B0604020202020204" pitchFamily="34" charset="0"/>
                <a:cs typeface="Arial" panose="020B0604020202020204" pitchFamily="34" charset="0"/>
              </a:rPr>
              <a:t> como núcleo (</a:t>
            </a:r>
            <a:r>
              <a:rPr lang="es-ES" sz="1200" noProof="0" dirty="0" err="1">
                <a:latin typeface="Arial" panose="020B0604020202020204" pitchFamily="34" charset="0"/>
                <a:cs typeface="Arial" panose="020B0604020202020204" pitchFamily="34" charset="0"/>
              </a:rPr>
              <a:t>core</a:t>
            </a:r>
            <a:r>
              <a:rPr lang="es-ES" sz="1200" noProof="0" dirty="0">
                <a:latin typeface="Arial" panose="020B0604020202020204" pitchFamily="34" charset="0"/>
                <a:cs typeface="Arial" panose="020B0604020202020204" pitchFamily="34" charset="0"/>
              </a:rPr>
              <a:t>).</a:t>
            </a:r>
          </a:p>
          <a:p>
            <a:pPr algn="just"/>
            <a:endParaRPr lang="es-ES" sz="1200" noProof="0" dirty="0">
              <a:latin typeface="Arial" panose="020B0604020202020204" pitchFamily="34" charset="0"/>
              <a:cs typeface="Arial" panose="020B0604020202020204" pitchFamily="34" charset="0"/>
            </a:endParaRPr>
          </a:p>
          <a:p>
            <a:pPr algn="just"/>
            <a:r>
              <a:rPr lang="es-ES" sz="1200" b="1" noProof="0" dirty="0">
                <a:latin typeface="Arial" panose="020B0604020202020204" pitchFamily="34" charset="0"/>
                <a:cs typeface="Arial" panose="020B0604020202020204" pitchFamily="34" charset="0"/>
              </a:rPr>
              <a:t>Silicon </a:t>
            </a:r>
            <a:r>
              <a:rPr lang="es-ES" sz="1200" b="1" noProof="0" dirty="0" err="1">
                <a:latin typeface="Arial" panose="020B0604020202020204" pitchFamily="34" charset="0"/>
                <a:cs typeface="Arial" panose="020B0604020202020204" pitchFamily="34" charset="0"/>
              </a:rPr>
              <a:t>Nitrixide</a:t>
            </a:r>
            <a:r>
              <a:rPr lang="es-ES" sz="1200" b="1" noProof="0" dirty="0">
                <a:latin typeface="Arial" panose="020B0604020202020204" pitchFamily="34" charset="0"/>
                <a:cs typeface="Arial" panose="020B0604020202020204" pitchFamily="34" charset="0"/>
              </a:rPr>
              <a:t> (</a:t>
            </a:r>
            <a:r>
              <a:rPr lang="es-ES" sz="1200" b="1" noProof="0" dirty="0" err="1">
                <a:latin typeface="Arial" panose="020B0604020202020204" pitchFamily="34" charset="0"/>
                <a:cs typeface="Arial" panose="020B0604020202020204" pitchFamily="34" charset="0"/>
              </a:rPr>
              <a:t>SiNx</a:t>
            </a:r>
            <a:r>
              <a:rPr lang="es-ES" sz="1200" b="1" noProof="0" dirty="0">
                <a:latin typeface="Arial" panose="020B0604020202020204" pitchFamily="34" charset="0"/>
                <a:cs typeface="Arial" panose="020B0604020202020204" pitchFamily="34" charset="0"/>
              </a:rPr>
              <a:t>) </a:t>
            </a:r>
            <a:r>
              <a:rPr lang="es-ES" sz="1200" b="1" noProof="0" dirty="0">
                <a:latin typeface="Arial" panose="020B0604020202020204" pitchFamily="34" charset="0"/>
                <a:cs typeface="Arial" panose="020B0604020202020204" pitchFamily="34" charset="0"/>
                <a:sym typeface="Wingdings" panose="05000000000000000000" pitchFamily="2" charset="2"/>
              </a:rPr>
              <a:t> Característicos ópticas </a:t>
            </a:r>
            <a:r>
              <a:rPr lang="es-ES" sz="1200" b="1" noProof="0" dirty="0">
                <a:latin typeface="Arial" panose="020B0604020202020204" pitchFamily="34" charset="0"/>
                <a:cs typeface="Arial" panose="020B0604020202020204" pitchFamily="34" charset="0"/>
              </a:rPr>
              <a:t>(</a:t>
            </a:r>
            <a:r>
              <a:rPr lang="es-ES" sz="1200" b="1" noProof="0" dirty="0"/>
              <a:t>λ =1.55 µm</a:t>
            </a:r>
            <a:r>
              <a:rPr lang="es-ES" sz="1200" b="1" noProof="0" dirty="0">
                <a:latin typeface="Arial" panose="020B0604020202020204" pitchFamily="34" charset="0"/>
                <a:cs typeface="Arial" panose="020B0604020202020204" pitchFamily="34" charset="0"/>
              </a:rPr>
              <a:t>), </a:t>
            </a:r>
            <a:r>
              <a:rPr lang="es-ES" sz="1200" noProof="0" dirty="0">
                <a:latin typeface="Arial" panose="020B0604020202020204" pitchFamily="34" charset="0"/>
                <a:cs typeface="Arial" panose="020B0604020202020204" pitchFamily="34" charset="0"/>
              </a:rPr>
              <a:t>tenemos un índice de refracción aproximado  n=1.9-2, es un índice medio entre el silicio y el </a:t>
            </a:r>
            <a:r>
              <a:rPr lang="es-ES" sz="1200" noProof="0" dirty="0" err="1">
                <a:latin typeface="Arial" panose="020B0604020202020204" pitchFamily="34" charset="0"/>
                <a:cs typeface="Arial" panose="020B0604020202020204" pitchFamily="34" charset="0"/>
              </a:rPr>
              <a:t>dioxido</a:t>
            </a:r>
            <a:r>
              <a:rPr lang="es-ES" sz="1200" noProof="0" dirty="0">
                <a:latin typeface="Arial" panose="020B0604020202020204" pitchFamily="34" charset="0"/>
                <a:cs typeface="Arial" panose="020B0604020202020204" pitchFamily="34" charset="0"/>
              </a:rPr>
              <a:t> de silicio. Es </a:t>
            </a:r>
            <a:r>
              <a:rPr lang="es-ES" sz="1200" noProof="0" dirty="0" err="1">
                <a:latin typeface="Arial" panose="020B0604020202020204" pitchFamily="34" charset="0"/>
                <a:cs typeface="Arial" panose="020B0604020202020204" pitchFamily="34" charset="0"/>
              </a:rPr>
              <a:t>frecuentamente</a:t>
            </a:r>
            <a:r>
              <a:rPr lang="es-ES" sz="1200" noProof="0" dirty="0">
                <a:latin typeface="Arial" panose="020B0604020202020204" pitchFamily="34" charset="0"/>
                <a:cs typeface="Arial" panose="020B0604020202020204" pitchFamily="34" charset="0"/>
              </a:rPr>
              <a:t> utilizado en aplicaciones en banda ancha.</a:t>
            </a:r>
          </a:p>
          <a:p>
            <a:pPr algn="just"/>
            <a:endParaRPr lang="es-ES" sz="1200" noProof="0" dirty="0">
              <a:latin typeface="Arial" panose="020B0604020202020204" pitchFamily="34" charset="0"/>
              <a:cs typeface="Arial" panose="020B0604020202020204" pitchFamily="34" charset="0"/>
            </a:endParaRPr>
          </a:p>
          <a:p>
            <a:pPr algn="just"/>
            <a:r>
              <a:rPr lang="es-ES" sz="1200" b="1" noProof="0" dirty="0">
                <a:latin typeface="Arial" panose="020B0604020202020204" pitchFamily="34" charset="0"/>
                <a:cs typeface="Arial" panose="020B0604020202020204" pitchFamily="34" charset="0"/>
              </a:rPr>
              <a:t>Silicon </a:t>
            </a:r>
            <a:r>
              <a:rPr lang="es-ES" sz="1200" b="1" noProof="0" dirty="0" err="1">
                <a:latin typeface="Arial" panose="020B0604020202020204" pitchFamily="34" charset="0"/>
                <a:cs typeface="Arial" panose="020B0604020202020204" pitchFamily="34" charset="0"/>
              </a:rPr>
              <a:t>Dioxide</a:t>
            </a:r>
            <a:r>
              <a:rPr lang="es-ES" sz="1200" b="1" noProof="0" dirty="0">
                <a:latin typeface="Arial" panose="020B0604020202020204" pitchFamily="34" charset="0"/>
                <a:cs typeface="Arial" panose="020B0604020202020204" pitchFamily="34" charset="0"/>
              </a:rPr>
              <a:t> (SiO2) </a:t>
            </a:r>
            <a:r>
              <a:rPr lang="es-ES" sz="1200" b="1" noProof="0" dirty="0">
                <a:latin typeface="Arial" panose="020B0604020202020204" pitchFamily="34" charset="0"/>
                <a:cs typeface="Arial" panose="020B0604020202020204" pitchFamily="34" charset="0"/>
                <a:sym typeface="Wingdings" panose="05000000000000000000" pitchFamily="2" charset="2"/>
              </a:rPr>
              <a:t> Características ópticas (</a:t>
            </a:r>
            <a:r>
              <a:rPr lang="es-ES" sz="1200" b="1" noProof="0" dirty="0"/>
              <a:t>λ =1.55 µm</a:t>
            </a:r>
            <a:r>
              <a:rPr lang="es-ES" sz="1200" b="1" noProof="0" dirty="0">
                <a:latin typeface="Arial" panose="020B0604020202020204" pitchFamily="34" charset="0"/>
                <a:cs typeface="Arial" panose="020B0604020202020204" pitchFamily="34" charset="0"/>
                <a:sym typeface="Wingdings" panose="05000000000000000000" pitchFamily="2" charset="2"/>
              </a:rPr>
              <a:t>), </a:t>
            </a:r>
            <a:r>
              <a:rPr lang="es-ES" sz="1200" noProof="0" dirty="0">
                <a:latin typeface="Arial" panose="020B0604020202020204" pitchFamily="34" charset="0"/>
                <a:cs typeface="Arial" panose="020B0604020202020204" pitchFamily="34" charset="0"/>
                <a:sym typeface="Wingdings" panose="05000000000000000000" pitchFamily="2" charset="2"/>
              </a:rPr>
              <a:t>tenemos un índice de refracción aproximado de n=1.44, lo que nos </a:t>
            </a:r>
            <a:r>
              <a:rPr lang="es-ES" sz="1200" noProof="0" dirty="0" err="1">
                <a:latin typeface="Arial" panose="020B0604020202020204" pitchFamily="34" charset="0"/>
                <a:cs typeface="Arial" panose="020B0604020202020204" pitchFamily="34" charset="0"/>
                <a:sym typeface="Wingdings" panose="05000000000000000000" pitchFamily="2" charset="2"/>
              </a:rPr>
              <a:t>inidica</a:t>
            </a:r>
            <a:r>
              <a:rPr lang="es-ES" sz="1200" noProof="0" dirty="0">
                <a:latin typeface="Arial" panose="020B0604020202020204" pitchFamily="34" charset="0"/>
                <a:cs typeface="Arial" panose="020B0604020202020204" pitchFamily="34" charset="0"/>
                <a:sym typeface="Wingdings" panose="05000000000000000000" pitchFamily="2" charset="2"/>
              </a:rPr>
              <a:t> que es un material de bajo índice. Garantiza la condición de guiado.</a:t>
            </a:r>
          </a:p>
          <a:p>
            <a:pPr algn="just"/>
            <a:endParaRPr lang="es-ES" sz="1200" noProof="0" dirty="0">
              <a:latin typeface="Arial" panose="020B0604020202020204" pitchFamily="34" charset="0"/>
              <a:cs typeface="Arial" panose="020B0604020202020204" pitchFamily="34" charset="0"/>
            </a:endParaRPr>
          </a:p>
          <a:p>
            <a:pPr algn="just"/>
            <a:r>
              <a:rPr lang="es-ES" sz="1200" noProof="0" dirty="0">
                <a:latin typeface="Arial" panose="020B0604020202020204" pitchFamily="34" charset="0"/>
                <a:cs typeface="Arial" panose="020B0604020202020204" pitchFamily="34" charset="0"/>
              </a:rPr>
              <a:t>En la gráfica (1.2) se muestra el perfil de índice de refracción en la sección transversal (x-y) de la guía de onda definitiva. La </a:t>
            </a:r>
            <a:r>
              <a:rPr lang="es-ES" sz="1200" noProof="0" dirty="0" err="1">
                <a:latin typeface="Arial" panose="020B0604020202020204" pitchFamily="34" charset="0"/>
                <a:cs typeface="Arial" panose="020B0604020202020204" pitchFamily="34" charset="0"/>
              </a:rPr>
              <a:t>region</a:t>
            </a:r>
            <a:r>
              <a:rPr lang="es-ES" sz="1200" noProof="0" dirty="0">
                <a:latin typeface="Arial" panose="020B0604020202020204" pitchFamily="34" charset="0"/>
                <a:cs typeface="Arial" panose="020B0604020202020204" pitchFamily="34" charset="0"/>
              </a:rPr>
              <a:t> amarilla corresponde al núcleo (</a:t>
            </a:r>
            <a:r>
              <a:rPr lang="es-ES" sz="1200" noProof="0" dirty="0" err="1">
                <a:latin typeface="Arial" panose="020B0604020202020204" pitchFamily="34" charset="0"/>
                <a:cs typeface="Arial" panose="020B0604020202020204" pitchFamily="34" charset="0"/>
              </a:rPr>
              <a:t>core</a:t>
            </a:r>
            <a:r>
              <a:rPr lang="es-ES" sz="1200" noProof="0" dirty="0">
                <a:latin typeface="Arial" panose="020B0604020202020204" pitchFamily="34" charset="0"/>
                <a:cs typeface="Arial" panose="020B0604020202020204" pitchFamily="34" charset="0"/>
              </a:rPr>
              <a:t>) y la </a:t>
            </a:r>
            <a:r>
              <a:rPr lang="es-ES" sz="1200" noProof="0" dirty="0" err="1">
                <a:latin typeface="Arial" panose="020B0604020202020204" pitchFamily="34" charset="0"/>
                <a:cs typeface="Arial" panose="020B0604020202020204" pitchFamily="34" charset="0"/>
              </a:rPr>
              <a:t>region</a:t>
            </a:r>
            <a:r>
              <a:rPr lang="es-ES" sz="1200" noProof="0" dirty="0">
                <a:latin typeface="Arial" panose="020B0604020202020204" pitchFamily="34" charset="0"/>
                <a:cs typeface="Arial" panose="020B0604020202020204" pitchFamily="34" charset="0"/>
              </a:rPr>
              <a:t> Morado oscuro corresponde al </a:t>
            </a:r>
            <a:r>
              <a:rPr lang="es-ES" sz="1200" noProof="0" dirty="0" err="1">
                <a:latin typeface="Arial" panose="020B0604020202020204" pitchFamily="34" charset="0"/>
                <a:cs typeface="Arial" panose="020B0604020202020204" pitchFamily="34" charset="0"/>
              </a:rPr>
              <a:t>cladding</a:t>
            </a:r>
            <a:r>
              <a:rPr lang="es-ES" sz="1200" noProof="0" dirty="0">
                <a:latin typeface="Arial" panose="020B0604020202020204" pitchFamily="34" charset="0"/>
                <a:cs typeface="Arial" panose="020B0604020202020204" pitchFamily="34" charset="0"/>
              </a:rPr>
              <a:t>. La barra lateral nos indica el índice de refracción. </a:t>
            </a:r>
            <a:r>
              <a:rPr lang="es-ES" sz="1200" noProof="0" dirty="0" err="1">
                <a:latin typeface="Arial" panose="020B0604020202020204" pitchFamily="34" charset="0"/>
                <a:cs typeface="Arial" panose="020B0604020202020204" pitchFamily="34" charset="0"/>
              </a:rPr>
              <a:t>Cladding</a:t>
            </a:r>
            <a:r>
              <a:rPr lang="es-ES" sz="1200" noProof="0" dirty="0">
                <a:latin typeface="Arial" panose="020B0604020202020204" pitchFamily="34" charset="0"/>
                <a:cs typeface="Arial" panose="020B0604020202020204" pitchFamily="34" charset="0"/>
              </a:rPr>
              <a:t>(SiO2):  n =1.44-1.45, núcleo (</a:t>
            </a:r>
            <a:r>
              <a:rPr lang="es-ES" sz="1200" noProof="0" dirty="0" err="1">
                <a:latin typeface="Arial" panose="020B0604020202020204" pitchFamily="34" charset="0"/>
                <a:cs typeface="Arial" panose="020B0604020202020204" pitchFamily="34" charset="0"/>
              </a:rPr>
              <a:t>SiNx</a:t>
            </a:r>
            <a:r>
              <a:rPr lang="es-ES" sz="1200" noProof="0" dirty="0">
                <a:latin typeface="Arial" panose="020B0604020202020204" pitchFamily="34" charset="0"/>
                <a:cs typeface="Arial" panose="020B0604020202020204" pitchFamily="34" charset="0"/>
              </a:rPr>
              <a:t>) = 1.9-2.</a:t>
            </a:r>
          </a:p>
          <a:p>
            <a:pPr algn="just"/>
            <a:endParaRPr lang="es-ES" sz="1200" noProof="0" dirty="0">
              <a:latin typeface="Arial" panose="020B0604020202020204" pitchFamily="34" charset="0"/>
              <a:cs typeface="Arial" panose="020B0604020202020204" pitchFamily="34" charset="0"/>
            </a:endParaRPr>
          </a:p>
          <a:p>
            <a:r>
              <a:rPr lang="es-ES" sz="1200" noProof="0" dirty="0">
                <a:latin typeface="Arial" panose="020B0604020202020204" pitchFamily="34" charset="0"/>
                <a:cs typeface="Arial" panose="020B0604020202020204" pitchFamily="34" charset="0"/>
              </a:rPr>
              <a:t>La gráfica confirma que la sección transversal está correctamente definida, con estructura </a:t>
            </a:r>
            <a:r>
              <a:rPr lang="es-ES" sz="1200" noProof="0" dirty="0" err="1">
                <a:latin typeface="Arial" panose="020B0604020202020204" pitchFamily="34" charset="0"/>
                <a:cs typeface="Arial" panose="020B0604020202020204" pitchFamily="34" charset="0"/>
              </a:rPr>
              <a:t>deep</a:t>
            </a:r>
            <a:r>
              <a:rPr lang="es-ES" sz="1200" noProof="0" dirty="0">
                <a:latin typeface="Arial" panose="020B0604020202020204" pitchFamily="34" charset="0"/>
                <a:cs typeface="Arial" panose="020B0604020202020204" pitchFamily="34" charset="0"/>
              </a:rPr>
              <a:t> de </a:t>
            </a:r>
            <a:r>
              <a:rPr lang="es-ES" sz="1200" noProof="0" dirty="0" err="1">
                <a:latin typeface="Arial" panose="020B0604020202020204" pitchFamily="34" charset="0"/>
                <a:cs typeface="Arial" panose="020B0604020202020204" pitchFamily="34" charset="0"/>
              </a:rPr>
              <a:t>SiNx</a:t>
            </a:r>
            <a:r>
              <a:rPr lang="es-ES" sz="1200" noProof="0" dirty="0">
                <a:latin typeface="Arial" panose="020B0604020202020204" pitchFamily="34" charset="0"/>
                <a:cs typeface="Arial" panose="020B0604020202020204" pitchFamily="34" charset="0"/>
              </a:rPr>
              <a:t> sobre SiO2 y una configuración adecuada para análisis modal a </a:t>
            </a:r>
            <a:r>
              <a:rPr lang="es-ES" sz="1200" noProof="0" dirty="0"/>
              <a:t>1.55 µm.</a:t>
            </a:r>
          </a:p>
          <a:p>
            <a:endParaRPr lang="es-ES" sz="1200" noProof="0" dirty="0">
              <a:latin typeface="Arial" panose="020B0604020202020204" pitchFamily="34" charset="0"/>
              <a:cs typeface="Arial" panose="020B0604020202020204" pitchFamily="34" charset="0"/>
            </a:endParaRPr>
          </a:p>
          <a:p>
            <a:r>
              <a:rPr lang="es-ES" sz="1200" b="1" noProof="0" dirty="0">
                <a:latin typeface="Arial" panose="020B0604020202020204" pitchFamily="34" charset="0"/>
                <a:cs typeface="Arial" panose="020B0604020202020204" pitchFamily="34" charset="0"/>
              </a:rPr>
              <a:t>1.3: Para la guía </a:t>
            </a:r>
            <a:r>
              <a:rPr lang="es-ES" sz="1200" b="1" noProof="0" dirty="0" err="1">
                <a:latin typeface="Arial" panose="020B0604020202020204" pitchFamily="34" charset="0"/>
                <a:cs typeface="Arial" panose="020B0604020202020204" pitchFamily="34" charset="0"/>
              </a:rPr>
              <a:t>deep</a:t>
            </a:r>
            <a:r>
              <a:rPr lang="es-ES" sz="1200" b="1" noProof="0" dirty="0">
                <a:latin typeface="Arial" panose="020B0604020202020204" pitchFamily="34" charset="0"/>
                <a:cs typeface="Arial" panose="020B0604020202020204" pitchFamily="34" charset="0"/>
              </a:rPr>
              <a:t> de </a:t>
            </a:r>
            <a:r>
              <a:rPr lang="es-ES" sz="1200" b="1" noProof="0" dirty="0" err="1">
                <a:latin typeface="Arial" panose="020B0604020202020204" pitchFamily="34" charset="0"/>
                <a:cs typeface="Arial" panose="020B0604020202020204" pitchFamily="34" charset="0"/>
              </a:rPr>
              <a:t>SiNx</a:t>
            </a:r>
            <a:r>
              <a:rPr lang="es-ES" sz="1200" b="1" noProof="0" dirty="0">
                <a:latin typeface="Arial" panose="020B0604020202020204" pitchFamily="34" charset="0"/>
                <a:cs typeface="Arial" panose="020B0604020202020204" pitchFamily="34" charset="0"/>
              </a:rPr>
              <a:t> (300 nm × 1.2 µm) a λ = 1.55 µm. </a:t>
            </a:r>
            <a:r>
              <a:rPr lang="es-ES" sz="1200" noProof="0" dirty="0">
                <a:latin typeface="Arial" panose="020B0604020202020204" pitchFamily="34" charset="0"/>
                <a:cs typeface="Arial" panose="020B0604020202020204" pitchFamily="34" charset="0"/>
              </a:rPr>
              <a:t>El análisis numérico demuestra que la guía </a:t>
            </a:r>
            <a:r>
              <a:rPr lang="es-ES" sz="1200" noProof="0" dirty="0" err="1">
                <a:latin typeface="Arial" panose="020B0604020202020204" pitchFamily="34" charset="0"/>
                <a:cs typeface="Arial" panose="020B0604020202020204" pitchFamily="34" charset="0"/>
              </a:rPr>
              <a:t>deep</a:t>
            </a:r>
            <a:r>
              <a:rPr lang="es-ES" sz="1200" noProof="0" dirty="0">
                <a:latin typeface="Arial" panose="020B0604020202020204" pitchFamily="34" charset="0"/>
                <a:cs typeface="Arial" panose="020B0604020202020204" pitchFamily="34" charset="0"/>
              </a:rPr>
              <a:t> de </a:t>
            </a:r>
            <a:r>
              <a:rPr lang="es-ES" sz="1200" noProof="0" dirty="0" err="1">
                <a:latin typeface="Arial" panose="020B0604020202020204" pitchFamily="34" charset="0"/>
                <a:cs typeface="Arial" panose="020B0604020202020204" pitchFamily="34" charset="0"/>
              </a:rPr>
              <a:t>SiNx</a:t>
            </a:r>
            <a:r>
              <a:rPr lang="es-ES" sz="1200" noProof="0" dirty="0">
                <a:latin typeface="Arial" panose="020B0604020202020204" pitchFamily="34" charset="0"/>
                <a:cs typeface="Arial" panose="020B0604020202020204" pitchFamily="34" charset="0"/>
              </a:rPr>
              <a:t> (1.2 µm) a 1.55 µm opera en régimen multimodo, con modo fundamental dominante en polarización TE y valores de </a:t>
            </a:r>
            <a:r>
              <a:rPr lang="es-ES" sz="1200" noProof="0" dirty="0" err="1">
                <a:latin typeface="Arial" panose="020B0604020202020204" pitchFamily="34" charset="0"/>
                <a:cs typeface="Arial" panose="020B0604020202020204" pitchFamily="34" charset="0"/>
              </a:rPr>
              <a:t>neff</a:t>
            </a:r>
            <a:r>
              <a:rPr lang="es-ES" sz="1200" noProof="0" dirty="0">
                <a:latin typeface="Arial" panose="020B0604020202020204" pitchFamily="34" charset="0"/>
                <a:cs typeface="Arial" panose="020B0604020202020204" pitchFamily="34" charset="0"/>
              </a:rPr>
              <a:t> correctamente acotados entre el núcleo y el </a:t>
            </a:r>
            <a:r>
              <a:rPr lang="es-ES" sz="1200" noProof="0" dirty="0" err="1">
                <a:latin typeface="Arial" panose="020B0604020202020204" pitchFamily="34" charset="0"/>
                <a:cs typeface="Arial" panose="020B0604020202020204" pitchFamily="34" charset="0"/>
              </a:rPr>
              <a:t>cladding</a:t>
            </a:r>
            <a:r>
              <a:rPr lang="es-ES" sz="1200" noProof="0" dirty="0">
                <a:latin typeface="Arial" panose="020B0604020202020204" pitchFamily="34" charset="0"/>
                <a:cs typeface="Arial" panose="020B0604020202020204" pitchFamily="34" charset="0"/>
              </a:rPr>
              <a:t>.</a:t>
            </a:r>
          </a:p>
          <a:p>
            <a:pPr algn="just"/>
            <a:endParaRPr lang="es-ES" sz="1200" noProof="0" dirty="0">
              <a:latin typeface="Arial" panose="020B0604020202020204" pitchFamily="34" charset="0"/>
              <a:cs typeface="Arial" panose="020B0604020202020204" pitchFamily="34" charset="0"/>
            </a:endParaRPr>
          </a:p>
          <a:p>
            <a:pPr algn="just"/>
            <a:r>
              <a:rPr lang="es-ES" sz="1200" noProof="0" dirty="0">
                <a:latin typeface="Arial" panose="020B0604020202020204" pitchFamily="34" charset="0"/>
                <a:cs typeface="Arial" panose="020B0604020202020204" pitchFamily="34" charset="0"/>
              </a:rPr>
              <a:t>Los valores de </a:t>
            </a:r>
            <a:r>
              <a:rPr lang="es-ES" sz="1200" noProof="0" dirty="0" err="1">
                <a:latin typeface="Arial" panose="020B0604020202020204" pitchFamily="34" charset="0"/>
                <a:cs typeface="Arial" panose="020B0604020202020204" pitchFamily="34" charset="0"/>
              </a:rPr>
              <a:t>n_eff</a:t>
            </a:r>
            <a:r>
              <a:rPr lang="es-ES" sz="1200" noProof="0" dirty="0">
                <a:latin typeface="Arial" panose="020B0604020202020204" pitchFamily="34" charset="0"/>
                <a:cs typeface="Arial" panose="020B0604020202020204" pitchFamily="34" charset="0"/>
              </a:rPr>
              <a:t> son: 1.605, 1.528, 1.451 y 1.433. Todos cumplen que están entre el índice del núcleo (=2.0) y del </a:t>
            </a:r>
            <a:r>
              <a:rPr lang="es-ES" sz="1200" noProof="0" dirty="0" err="1">
                <a:latin typeface="Arial" panose="020B0604020202020204" pitchFamily="34" charset="0"/>
                <a:cs typeface="Arial" panose="020B0604020202020204" pitchFamily="34" charset="0"/>
              </a:rPr>
              <a:t>cladding</a:t>
            </a:r>
            <a:r>
              <a:rPr lang="es-ES" sz="1200" noProof="0" dirty="0">
                <a:latin typeface="Arial" panose="020B0604020202020204" pitchFamily="34" charset="0"/>
                <a:cs typeface="Arial" panose="020B0604020202020204" pitchFamily="34" charset="0"/>
              </a:rPr>
              <a:t> (=1.44), confirmando guiado. El modo 0 tiene el mayor </a:t>
            </a:r>
            <a:r>
              <a:rPr lang="es-ES" sz="1200" noProof="0" dirty="0" err="1">
                <a:latin typeface="Arial" panose="020B0604020202020204" pitchFamily="34" charset="0"/>
                <a:cs typeface="Arial" panose="020B0604020202020204" pitchFamily="34" charset="0"/>
              </a:rPr>
              <a:t>n_eff</a:t>
            </a:r>
            <a:r>
              <a:rPr lang="es-ES" sz="1200" noProof="0" dirty="0">
                <a:latin typeface="Arial" panose="020B0604020202020204" pitchFamily="34" charset="0"/>
                <a:cs typeface="Arial" panose="020B0604020202020204" pitchFamily="34" charset="0"/>
              </a:rPr>
              <a:t> (1.605) </a:t>
            </a:r>
            <a:r>
              <a:rPr lang="es-ES" sz="1200" noProof="0" dirty="0">
                <a:latin typeface="Arial" panose="020B0604020202020204" pitchFamily="34" charset="0"/>
                <a:cs typeface="Arial" panose="020B0604020202020204" pitchFamily="34" charset="0"/>
                <a:sym typeface="Wingdings" panose="05000000000000000000" pitchFamily="2" charset="2"/>
              </a:rPr>
              <a:t> es el más confinado. Su </a:t>
            </a:r>
            <a:r>
              <a:rPr lang="es-ES" sz="1200" noProof="0" dirty="0" err="1">
                <a:latin typeface="Arial" panose="020B0604020202020204" pitchFamily="34" charset="0"/>
                <a:cs typeface="Arial" panose="020B0604020202020204" pitchFamily="34" charset="0"/>
                <a:sym typeface="Wingdings" panose="05000000000000000000" pitchFamily="2" charset="2"/>
              </a:rPr>
              <a:t>fracción_te</a:t>
            </a:r>
            <a:r>
              <a:rPr lang="es-ES" sz="1200" noProof="0" dirty="0">
                <a:latin typeface="Arial" panose="020B0604020202020204" pitchFamily="34" charset="0"/>
                <a:cs typeface="Arial" panose="020B0604020202020204" pitchFamily="34" charset="0"/>
                <a:sym typeface="Wingdings" panose="05000000000000000000" pitchFamily="2" charset="2"/>
              </a:rPr>
              <a:t>=0.995 que indica que claramente es modo TE.</a:t>
            </a:r>
          </a:p>
          <a:p>
            <a:pPr algn="just"/>
            <a:r>
              <a:rPr lang="es-ES" sz="1200" noProof="0" dirty="0">
                <a:latin typeface="Arial" panose="020B0604020202020204" pitchFamily="34" charset="0"/>
                <a:cs typeface="Arial" panose="020B0604020202020204" pitchFamily="34" charset="0"/>
                <a:sym typeface="Wingdings" panose="05000000000000000000" pitchFamily="2" charset="2"/>
              </a:rPr>
              <a:t>El modo 1 tiene </a:t>
            </a:r>
            <a:r>
              <a:rPr lang="es-ES" sz="1200" noProof="0" dirty="0" err="1">
                <a:latin typeface="Arial" panose="020B0604020202020204" pitchFamily="34" charset="0"/>
                <a:cs typeface="Arial" panose="020B0604020202020204" pitchFamily="34" charset="0"/>
                <a:sym typeface="Wingdings" panose="05000000000000000000" pitchFamily="2" charset="2"/>
              </a:rPr>
              <a:t>n_eff</a:t>
            </a:r>
            <a:r>
              <a:rPr lang="es-ES" sz="1200" noProof="0" dirty="0">
                <a:latin typeface="Arial" panose="020B0604020202020204" pitchFamily="34" charset="0"/>
                <a:cs typeface="Arial" panose="020B0604020202020204" pitchFamily="34" charset="0"/>
                <a:sym typeface="Wingdings" panose="05000000000000000000" pitchFamily="2" charset="2"/>
              </a:rPr>
              <a:t> =1.528 y </a:t>
            </a:r>
            <a:r>
              <a:rPr lang="es-ES" sz="1200" noProof="0" dirty="0" err="1">
                <a:latin typeface="Arial" panose="020B0604020202020204" pitchFamily="34" charset="0"/>
                <a:cs typeface="Arial" panose="020B0604020202020204" pitchFamily="34" charset="0"/>
                <a:sym typeface="Wingdings" panose="05000000000000000000" pitchFamily="2" charset="2"/>
              </a:rPr>
              <a:t>fracción_tm</a:t>
            </a:r>
            <a:r>
              <a:rPr lang="es-ES" sz="1200" noProof="0" dirty="0">
                <a:latin typeface="Arial" panose="020B0604020202020204" pitchFamily="34" charset="0"/>
                <a:cs typeface="Arial" panose="020B0604020202020204" pitchFamily="34" charset="0"/>
                <a:sym typeface="Wingdings" panose="05000000000000000000" pitchFamily="2" charset="2"/>
              </a:rPr>
              <a:t> =0.99  es predominante TM.</a:t>
            </a:r>
          </a:p>
          <a:p>
            <a:pPr algn="just"/>
            <a:r>
              <a:rPr lang="es-ES" sz="1200" noProof="0" dirty="0">
                <a:latin typeface="Arial" panose="020B0604020202020204" pitchFamily="34" charset="0"/>
                <a:cs typeface="Arial" panose="020B0604020202020204" pitchFamily="34" charset="0"/>
                <a:sym typeface="Wingdings" panose="05000000000000000000" pitchFamily="2" charset="2"/>
              </a:rPr>
              <a:t>El modo 2 tiene </a:t>
            </a:r>
            <a:r>
              <a:rPr lang="es-ES" sz="1200" noProof="0" dirty="0" err="1">
                <a:latin typeface="Arial" panose="020B0604020202020204" pitchFamily="34" charset="0"/>
                <a:cs typeface="Arial" panose="020B0604020202020204" pitchFamily="34" charset="0"/>
                <a:sym typeface="Wingdings" panose="05000000000000000000" pitchFamily="2" charset="2"/>
              </a:rPr>
              <a:t>n_eff</a:t>
            </a:r>
            <a:r>
              <a:rPr lang="es-ES" sz="1200" noProof="0" dirty="0">
                <a:latin typeface="Arial" panose="020B0604020202020204" pitchFamily="34" charset="0"/>
                <a:cs typeface="Arial" panose="020B0604020202020204" pitchFamily="34" charset="0"/>
                <a:sym typeface="Wingdings" panose="05000000000000000000" pitchFamily="2" charset="2"/>
              </a:rPr>
              <a:t> =1.451 es casi totalmente TE (</a:t>
            </a:r>
            <a:r>
              <a:rPr lang="es-ES" sz="1200" noProof="0" dirty="0" err="1">
                <a:latin typeface="Arial" panose="020B0604020202020204" pitchFamily="34" charset="0"/>
                <a:cs typeface="Arial" panose="020B0604020202020204" pitchFamily="34" charset="0"/>
                <a:sym typeface="Wingdings" panose="05000000000000000000" pitchFamily="2" charset="2"/>
              </a:rPr>
              <a:t>fracción_te</a:t>
            </a:r>
            <a:r>
              <a:rPr lang="es-ES" sz="1200" noProof="0" dirty="0">
                <a:latin typeface="Arial" panose="020B0604020202020204" pitchFamily="34" charset="0"/>
                <a:cs typeface="Arial" panose="020B0604020202020204" pitchFamily="34" charset="0"/>
                <a:sym typeface="Wingdings" panose="05000000000000000000" pitchFamily="2" charset="2"/>
              </a:rPr>
              <a:t> = 0.96), pero </a:t>
            </a:r>
            <a:r>
              <a:rPr lang="es-ES" sz="1200" noProof="0" dirty="0" err="1">
                <a:latin typeface="Arial" panose="020B0604020202020204" pitchFamily="34" charset="0"/>
                <a:cs typeface="Arial" panose="020B0604020202020204" pitchFamily="34" charset="0"/>
                <a:sym typeface="Wingdings" panose="05000000000000000000" pitchFamily="2" charset="2"/>
              </a:rPr>
              <a:t>conn</a:t>
            </a:r>
            <a:r>
              <a:rPr lang="es-ES" sz="1200" noProof="0" dirty="0">
                <a:latin typeface="Arial" panose="020B0604020202020204" pitchFamily="34" charset="0"/>
                <a:cs typeface="Arial" panose="020B0604020202020204" pitchFamily="34" charset="0"/>
                <a:sym typeface="Wingdings" panose="05000000000000000000" pitchFamily="2" charset="2"/>
              </a:rPr>
              <a:t> menos confinamiento.</a:t>
            </a:r>
          </a:p>
          <a:p>
            <a:pPr algn="just"/>
            <a:r>
              <a:rPr lang="es-ES" sz="1200" noProof="0" dirty="0">
                <a:latin typeface="Arial" panose="020B0604020202020204" pitchFamily="34" charset="0"/>
                <a:cs typeface="Arial" panose="020B0604020202020204" pitchFamily="34" charset="0"/>
                <a:sym typeface="Wingdings" panose="05000000000000000000" pitchFamily="2" charset="2"/>
              </a:rPr>
              <a:t>El modo 3 tiene </a:t>
            </a:r>
            <a:r>
              <a:rPr lang="es-ES" sz="1200" noProof="0" dirty="0" err="1">
                <a:latin typeface="Arial" panose="020B0604020202020204" pitchFamily="34" charset="0"/>
                <a:cs typeface="Arial" panose="020B0604020202020204" pitchFamily="34" charset="0"/>
                <a:sym typeface="Wingdings" panose="05000000000000000000" pitchFamily="2" charset="2"/>
              </a:rPr>
              <a:t>n_eff</a:t>
            </a:r>
            <a:r>
              <a:rPr lang="es-ES" sz="1200" noProof="0" dirty="0">
                <a:latin typeface="Arial" panose="020B0604020202020204" pitchFamily="34" charset="0"/>
                <a:cs typeface="Arial" panose="020B0604020202020204" pitchFamily="34" charset="0"/>
                <a:sym typeface="Wingdings" panose="05000000000000000000" pitchFamily="2" charset="2"/>
              </a:rPr>
              <a:t> =1.433 y </a:t>
            </a:r>
            <a:r>
              <a:rPr lang="es-ES" sz="1200" noProof="0" dirty="0" err="1">
                <a:latin typeface="Arial" panose="020B0604020202020204" pitchFamily="34" charset="0"/>
                <a:cs typeface="Arial" panose="020B0604020202020204" pitchFamily="34" charset="0"/>
                <a:sym typeface="Wingdings" panose="05000000000000000000" pitchFamily="2" charset="2"/>
              </a:rPr>
              <a:t>fracción_tm</a:t>
            </a:r>
            <a:r>
              <a:rPr lang="es-ES" sz="1200" noProof="0" dirty="0">
                <a:latin typeface="Arial" panose="020B0604020202020204" pitchFamily="34" charset="0"/>
                <a:cs typeface="Arial" panose="020B0604020202020204" pitchFamily="34" charset="0"/>
                <a:sym typeface="Wingdings" panose="05000000000000000000" pitchFamily="2" charset="2"/>
              </a:rPr>
              <a:t> =0.95, es mayoritariamente TM y está cercano al índice de </a:t>
            </a:r>
            <a:r>
              <a:rPr lang="es-ES" sz="1200" noProof="0" dirty="0" err="1">
                <a:latin typeface="Arial" panose="020B0604020202020204" pitchFamily="34" charset="0"/>
                <a:cs typeface="Arial" panose="020B0604020202020204" pitchFamily="34" charset="0"/>
                <a:sym typeface="Wingdings" panose="05000000000000000000" pitchFamily="2" charset="2"/>
              </a:rPr>
              <a:t>cladding</a:t>
            </a:r>
            <a:r>
              <a:rPr lang="es-ES" sz="1200" noProof="0" dirty="0">
                <a:latin typeface="Arial" panose="020B0604020202020204" pitchFamily="34" charset="0"/>
                <a:cs typeface="Arial" panose="020B0604020202020204" pitchFamily="34" charset="0"/>
                <a:sym typeface="Wingdings" panose="05000000000000000000" pitchFamily="2" charset="2"/>
              </a:rPr>
              <a:t>, por lo que es el menos confinado.</a:t>
            </a:r>
          </a:p>
          <a:p>
            <a:pPr algn="just"/>
            <a:endParaRPr lang="es-ES" sz="1200" noProof="0" dirty="0">
              <a:latin typeface="Arial" panose="020B0604020202020204" pitchFamily="34" charset="0"/>
              <a:cs typeface="Arial" panose="020B0604020202020204" pitchFamily="34" charset="0"/>
              <a:sym typeface="Wingdings" panose="05000000000000000000" pitchFamily="2" charset="2"/>
            </a:endParaRPr>
          </a:p>
          <a:p>
            <a:pPr algn="just"/>
            <a:r>
              <a:rPr lang="es-ES" sz="1200" noProof="0" dirty="0">
                <a:latin typeface="Arial" panose="020B0604020202020204" pitchFamily="34" charset="0"/>
                <a:cs typeface="Arial" panose="020B0604020202020204" pitchFamily="34" charset="0"/>
              </a:rPr>
              <a:t>En cuanto a las gráficas el modo 0 presenta un único lóbulo central bien confinado dentro del núcleo.</a:t>
            </a:r>
          </a:p>
          <a:p>
            <a:pPr algn="just"/>
            <a:r>
              <a:rPr lang="es-ES" sz="1200" noProof="0" dirty="0">
                <a:latin typeface="Arial" panose="020B0604020202020204" pitchFamily="34" charset="0"/>
                <a:cs typeface="Arial" panose="020B0604020202020204" pitchFamily="34" charset="0"/>
              </a:rPr>
              <a:t>El modo 1 muestra un nodo transversal  y mayor </a:t>
            </a:r>
            <a:r>
              <a:rPr lang="es-ES" sz="1200" noProof="0" dirty="0" err="1">
                <a:latin typeface="Arial" panose="020B0604020202020204" pitchFamily="34" charset="0"/>
                <a:cs typeface="Arial" panose="020B0604020202020204" pitchFamily="34" charset="0"/>
              </a:rPr>
              <a:t>extension</a:t>
            </a:r>
            <a:r>
              <a:rPr lang="es-ES" sz="1200" noProof="0" dirty="0">
                <a:latin typeface="Arial" panose="020B0604020202020204" pitchFamily="34" charset="0"/>
                <a:cs typeface="Arial" panose="020B0604020202020204" pitchFamily="34" charset="0"/>
              </a:rPr>
              <a:t> hacia el </a:t>
            </a:r>
            <a:r>
              <a:rPr lang="es-ES" sz="1200" noProof="0" dirty="0" err="1">
                <a:latin typeface="Arial" panose="020B0604020202020204" pitchFamily="34" charset="0"/>
                <a:cs typeface="Arial" panose="020B0604020202020204" pitchFamily="34" charset="0"/>
              </a:rPr>
              <a:t>cladding</a:t>
            </a:r>
            <a:r>
              <a:rPr lang="es-ES" sz="1200" noProof="0" dirty="0">
                <a:latin typeface="Arial" panose="020B0604020202020204" pitchFamily="34" charset="0"/>
                <a:cs typeface="Arial" panose="020B0604020202020204" pitchFamily="34" charset="0"/>
              </a:rPr>
              <a:t>.</a:t>
            </a:r>
          </a:p>
          <a:p>
            <a:pPr algn="just"/>
            <a:r>
              <a:rPr lang="es-ES" sz="1200" noProof="0" dirty="0">
                <a:latin typeface="Arial" panose="020B0604020202020204" pitchFamily="34" charset="0"/>
                <a:cs typeface="Arial" panose="020B0604020202020204" pitchFamily="34" charset="0"/>
              </a:rPr>
              <a:t>En los modos 2 y 3 aumenta el número de nodos y la complejidad del perfil. A medida que aumenta el índice modal, el campo se expande más fuera del núcleo. Los modos con mayor carácter TE presentan mayor simetría horizontal. Los modos con carácter TM muestran mayor variación vertical del campo. Además, La intensidad máxima siempre se concentra en la región de mayor índice.</a:t>
            </a:r>
          </a:p>
        </p:txBody>
      </p:sp>
    </p:spTree>
    <p:extLst>
      <p:ext uri="{BB962C8B-B14F-4D97-AF65-F5344CB8AC3E}">
        <p14:creationId xmlns:p14="http://schemas.microsoft.com/office/powerpoint/2010/main" val="12513048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s-ES" sz="2500" noProof="0" dirty="0" err="1"/>
              <a:t>Learning</a:t>
            </a:r>
            <a:r>
              <a:rPr lang="es-ES" sz="2500" noProof="0" dirty="0"/>
              <a:t> </a:t>
            </a:r>
            <a:r>
              <a:rPr lang="es-ES" sz="2500" noProof="0" dirty="0" err="1"/>
              <a:t>outcome</a:t>
            </a:r>
            <a:r>
              <a:rPr lang="es-ES" sz="2500" noProof="0" dirty="0"/>
              <a:t> #2 – </a:t>
            </a:r>
            <a:r>
              <a:rPr lang="es-ES" sz="2500" noProof="0" dirty="0" err="1"/>
              <a:t>Wavelength</a:t>
            </a:r>
            <a:r>
              <a:rPr lang="es-ES" sz="2500" noProof="0" dirty="0"/>
              <a:t> </a:t>
            </a:r>
            <a:r>
              <a:rPr lang="es-ES" sz="2500" noProof="0" dirty="0" err="1"/>
              <a:t>behavior</a:t>
            </a:r>
            <a:br>
              <a:rPr lang="es-ES" sz="2500" spc="-5" noProof="0" dirty="0">
                <a:latin typeface="+mj-lt"/>
                <a:cs typeface="Lucida Sans"/>
              </a:rPr>
            </a:br>
            <a:r>
              <a:rPr lang="es-ES" b="0" noProof="0" dirty="0" err="1"/>
              <a:t>Wavelength</a:t>
            </a:r>
            <a:r>
              <a:rPr lang="es-ES" b="0" noProof="0" dirty="0"/>
              <a:t> 1.5-1.6 µm (step 0.01 µm) – </a:t>
            </a:r>
            <a:r>
              <a:rPr lang="es-ES" b="0" noProof="0" dirty="0" err="1"/>
              <a:t>width</a:t>
            </a:r>
            <a:r>
              <a:rPr lang="es-ES" b="0" noProof="0" dirty="0"/>
              <a:t> 1.2 µm</a:t>
            </a:r>
            <a:endParaRPr lang="es-ES" sz="2500" b="0" noProof="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noProof="0" smtClean="0"/>
              <a:t>5</a:t>
            </a:fld>
            <a:endParaRPr lang="es-ES" noProof="0" dirty="0"/>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noProof="0" dirty="0"/>
              <a:t>LAB 1.0 WAVEGUIDES</a:t>
            </a:r>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s-ES" sz="1200" b="1" noProof="0" dirty="0" err="1">
                <a:latin typeface="Arial" panose="020B0604020202020204" pitchFamily="34" charset="0"/>
                <a:cs typeface="Arial" panose="020B0604020202020204" pitchFamily="34" charset="0"/>
              </a:rPr>
              <a:t>Comment</a:t>
            </a:r>
            <a:r>
              <a:rPr lang="es-ES" sz="1200" b="1" noProof="0" dirty="0">
                <a:latin typeface="Arial" panose="020B0604020202020204" pitchFamily="34" charset="0"/>
                <a:cs typeface="Arial" panose="020B0604020202020204" pitchFamily="34" charset="0"/>
              </a:rPr>
              <a:t> </a:t>
            </a:r>
            <a:r>
              <a:rPr lang="es-ES" sz="1200" b="1" noProof="0" dirty="0" err="1">
                <a:latin typeface="Arial" panose="020B0604020202020204" pitchFamily="34" charset="0"/>
                <a:cs typeface="Arial" panose="020B0604020202020204" pitchFamily="34" charset="0"/>
              </a:rPr>
              <a:t>results</a:t>
            </a:r>
            <a:r>
              <a:rPr lang="es-ES" sz="1200" b="1" noProof="0" dirty="0">
                <a:latin typeface="Arial" panose="020B0604020202020204" pitchFamily="34" charset="0"/>
                <a:cs typeface="Arial" panose="020B0604020202020204" pitchFamily="34" charset="0"/>
              </a:rPr>
              <a:t> (</a:t>
            </a:r>
            <a:r>
              <a:rPr lang="es-ES" sz="1200" b="1" noProof="0" dirty="0" err="1">
                <a:latin typeface="Arial" panose="020B0604020202020204" pitchFamily="34" charset="0"/>
                <a:cs typeface="Arial" panose="020B0604020202020204" pitchFamily="34" charset="0"/>
              </a:rPr>
              <a:t>neff</a:t>
            </a:r>
            <a:r>
              <a:rPr lang="es-ES" sz="1200" b="1" noProof="0" dirty="0">
                <a:latin typeface="Arial" panose="020B0604020202020204" pitchFamily="34" charset="0"/>
                <a:cs typeface="Arial" panose="020B0604020202020204" pitchFamily="34" charset="0"/>
              </a:rPr>
              <a:t> </a:t>
            </a:r>
            <a:r>
              <a:rPr lang="es-ES" sz="1200" b="1" noProof="0" dirty="0" err="1">
                <a:latin typeface="Arial" panose="020B0604020202020204" pitchFamily="34" charset="0"/>
                <a:cs typeface="Arial" panose="020B0604020202020204" pitchFamily="34" charset="0"/>
              </a:rPr>
              <a:t>changes</a:t>
            </a:r>
            <a:r>
              <a:rPr lang="es-ES" sz="1200" b="1" noProof="0" dirty="0">
                <a:latin typeface="Arial" panose="020B0604020202020204" pitchFamily="34" charset="0"/>
                <a:cs typeface="Arial" panose="020B0604020202020204" pitchFamily="34" charset="0"/>
              </a:rPr>
              <a:t> </a:t>
            </a:r>
            <a:r>
              <a:rPr lang="es-ES" sz="1200" b="1" noProof="0" dirty="0" err="1">
                <a:latin typeface="Arial" panose="020B0604020202020204" pitchFamily="34" charset="0"/>
                <a:cs typeface="Arial" panose="020B0604020202020204" pitchFamily="34" charset="0"/>
              </a:rPr>
              <a:t>this</a:t>
            </a:r>
            <a:r>
              <a:rPr lang="es-ES" sz="1200" b="1" noProof="0" dirty="0">
                <a:latin typeface="Arial" panose="020B0604020202020204" pitchFamily="34" charset="0"/>
                <a:cs typeface="Arial" panose="020B0604020202020204" pitchFamily="34" charset="0"/>
              </a:rPr>
              <a:t> </a:t>
            </a:r>
            <a:r>
              <a:rPr lang="es-ES" sz="1200" b="1" noProof="0" dirty="0" err="1">
                <a:latin typeface="Arial" panose="020B0604020202020204" pitchFamily="34" charset="0"/>
                <a:cs typeface="Arial" panose="020B0604020202020204" pitchFamily="34" charset="0"/>
              </a:rPr>
              <a:t>way</a:t>
            </a:r>
            <a:r>
              <a:rPr lang="es-ES" sz="1200" b="1" noProof="0" dirty="0">
                <a:latin typeface="Arial" panose="020B0604020202020204" pitchFamily="34" charset="0"/>
                <a:cs typeface="Arial" panose="020B0604020202020204" pitchFamily="34" charset="0"/>
              </a:rPr>
              <a:t> </a:t>
            </a:r>
            <a:r>
              <a:rPr lang="es-ES" sz="1200" b="1" noProof="0" dirty="0" err="1">
                <a:latin typeface="Arial" panose="020B0604020202020204" pitchFamily="34" charset="0"/>
                <a:cs typeface="Arial" panose="020B0604020202020204" pitchFamily="34" charset="0"/>
              </a:rPr>
              <a:t>with</a:t>
            </a:r>
            <a:r>
              <a:rPr lang="es-ES" sz="1200" b="1" noProof="0" dirty="0">
                <a:latin typeface="Arial" panose="020B0604020202020204" pitchFamily="34" charset="0"/>
                <a:cs typeface="Arial" panose="020B0604020202020204" pitchFamily="34" charset="0"/>
              </a:rPr>
              <a:t> </a:t>
            </a:r>
            <a:r>
              <a:rPr lang="es-ES" sz="1200" b="1" noProof="0" dirty="0" err="1">
                <a:latin typeface="Arial" panose="020B0604020202020204" pitchFamily="34" charset="0"/>
                <a:cs typeface="Arial" panose="020B0604020202020204" pitchFamily="34" charset="0"/>
              </a:rPr>
              <a:t>wavelength</a:t>
            </a:r>
            <a:r>
              <a:rPr lang="es-ES" sz="1200" b="1" noProof="0" dirty="0">
                <a:latin typeface="Arial" panose="020B0604020202020204" pitchFamily="34" charset="0"/>
                <a:cs typeface="Arial" panose="020B0604020202020204" pitchFamily="34" charset="0"/>
              </a:rPr>
              <a:t>, </a:t>
            </a:r>
            <a:r>
              <a:rPr lang="es-ES" sz="1200" b="1" noProof="0" dirty="0" err="1">
                <a:latin typeface="Arial" panose="020B0604020202020204" pitchFamily="34" charset="0"/>
                <a:cs typeface="Arial" panose="020B0604020202020204" pitchFamily="34" charset="0"/>
              </a:rPr>
              <a:t>comparison</a:t>
            </a:r>
            <a:r>
              <a:rPr lang="es-ES" sz="1200" b="1" noProof="0" dirty="0">
                <a:latin typeface="Arial" panose="020B0604020202020204" pitchFamily="34" charset="0"/>
                <a:cs typeface="Arial" panose="020B0604020202020204" pitchFamily="34" charset="0"/>
              </a:rPr>
              <a:t> </a:t>
            </a:r>
            <a:r>
              <a:rPr lang="es-ES" sz="1200" b="1" noProof="0" dirty="0" err="1">
                <a:latin typeface="Arial" panose="020B0604020202020204" pitchFamily="34" charset="0"/>
                <a:cs typeface="Arial" panose="020B0604020202020204" pitchFamily="34" charset="0"/>
              </a:rPr>
              <a:t>between</a:t>
            </a:r>
            <a:r>
              <a:rPr lang="es-ES" sz="1200" b="1" noProof="0" dirty="0">
                <a:latin typeface="Arial" panose="020B0604020202020204" pitchFamily="34" charset="0"/>
                <a:cs typeface="Arial" panose="020B0604020202020204" pitchFamily="34" charset="0"/>
              </a:rPr>
              <a:t> </a:t>
            </a:r>
            <a:r>
              <a:rPr lang="es-ES" sz="1200" b="1" noProof="0" dirty="0" err="1">
                <a:latin typeface="Arial" panose="020B0604020202020204" pitchFamily="34" charset="0"/>
                <a:cs typeface="Arial" panose="020B0604020202020204" pitchFamily="34" charset="0"/>
              </a:rPr>
              <a:t>different</a:t>
            </a:r>
            <a:r>
              <a:rPr lang="es-ES" sz="1200" b="1" noProof="0" dirty="0">
                <a:latin typeface="Arial" panose="020B0604020202020204" pitchFamily="34" charset="0"/>
                <a:cs typeface="Arial" panose="020B0604020202020204" pitchFamily="34" charset="0"/>
              </a:rPr>
              <a:t> </a:t>
            </a:r>
            <a:r>
              <a:rPr lang="es-ES" sz="1200" b="1" noProof="0" dirty="0" err="1">
                <a:latin typeface="Arial" panose="020B0604020202020204" pitchFamily="34" charset="0"/>
                <a:cs typeface="Arial" panose="020B0604020202020204" pitchFamily="34" charset="0"/>
              </a:rPr>
              <a:t>waveguide</a:t>
            </a:r>
            <a:r>
              <a:rPr lang="es-ES" sz="1200" b="1" noProof="0" dirty="0">
                <a:latin typeface="Arial" panose="020B0604020202020204" pitchFamily="34" charset="0"/>
                <a:cs typeface="Arial" panose="020B0604020202020204" pitchFamily="34" charset="0"/>
              </a:rPr>
              <a:t> </a:t>
            </a:r>
            <a:r>
              <a:rPr lang="es-ES" sz="1200" b="1" noProof="0" dirty="0" err="1">
                <a:latin typeface="Arial" panose="020B0604020202020204" pitchFamily="34" charset="0"/>
                <a:cs typeface="Arial" panose="020B0604020202020204" pitchFamily="34" charset="0"/>
              </a:rPr>
              <a:t>cross-sections</a:t>
            </a:r>
            <a:r>
              <a:rPr lang="es-ES" sz="1200" b="1" noProof="0" dirty="0">
                <a:latin typeface="Arial" panose="020B0604020202020204" pitchFamily="34" charset="0"/>
                <a:cs typeface="Arial" panose="020B0604020202020204" pitchFamily="34" charset="0"/>
              </a:rPr>
              <a:t> …</a:t>
            </a:r>
            <a:r>
              <a:rPr lang="es-ES" sz="1200" b="1" noProof="0" dirty="0" err="1">
                <a:latin typeface="Arial" panose="020B0604020202020204" pitchFamily="34" charset="0"/>
                <a:cs typeface="Arial" panose="020B0604020202020204" pitchFamily="34" charset="0"/>
              </a:rPr>
              <a:t>etc</a:t>
            </a:r>
            <a:r>
              <a:rPr lang="es-ES" sz="1200" b="1" noProof="0" dirty="0">
                <a:latin typeface="Arial" panose="020B0604020202020204" pitchFamily="34" charset="0"/>
                <a:cs typeface="Arial" panose="020B0604020202020204" pitchFamily="34" charset="0"/>
              </a:rPr>
              <a:t>)</a:t>
            </a:r>
          </a:p>
          <a:p>
            <a:pPr algn="just"/>
            <a:r>
              <a:rPr lang="es-ES" sz="1200" noProof="0" dirty="0">
                <a:latin typeface="Arial" panose="020B0604020202020204" pitchFamily="34" charset="0"/>
                <a:cs typeface="Arial" panose="020B0604020202020204" pitchFamily="34" charset="0"/>
              </a:rPr>
              <a:t>En la guía </a:t>
            </a:r>
            <a:r>
              <a:rPr lang="es-ES" sz="1200" noProof="0" dirty="0" err="1">
                <a:latin typeface="Arial" panose="020B0604020202020204" pitchFamily="34" charset="0"/>
                <a:cs typeface="Arial" panose="020B0604020202020204" pitchFamily="34" charset="0"/>
              </a:rPr>
              <a:t>shallow</a:t>
            </a:r>
            <a:r>
              <a:rPr lang="es-ES" sz="1200" noProof="0" dirty="0">
                <a:latin typeface="Arial" panose="020B0604020202020204" pitchFamily="34" charset="0"/>
                <a:cs typeface="Arial" panose="020B0604020202020204" pitchFamily="34" charset="0"/>
              </a:rPr>
              <a:t> hay una capa extra (</a:t>
            </a:r>
            <a:r>
              <a:rPr lang="es-ES" sz="1200" noProof="0" dirty="0" err="1">
                <a:latin typeface="Arial" panose="020B0604020202020204" pitchFamily="34" charset="0"/>
                <a:cs typeface="Arial" panose="020B0604020202020204" pitchFamily="34" charset="0"/>
              </a:rPr>
              <a:t>slab</a:t>
            </a:r>
            <a:r>
              <a:rPr lang="es-ES" sz="1200" noProof="0" dirty="0">
                <a:latin typeface="Arial" panose="020B0604020202020204" pitchFamily="34" charset="0"/>
                <a:cs typeface="Arial" panose="020B0604020202020204" pitchFamily="34" charset="0"/>
              </a:rPr>
              <a:t>) del mismo material que el núcleo alrededor de la guía. Esa capa tiene un índice alto. Los modos 1,2 y 3 no están bien “encerrados” en el núcleo, ya que, su campo se sale más hacia los lados.</a:t>
            </a:r>
          </a:p>
          <a:p>
            <a:pPr algn="just"/>
            <a:r>
              <a:rPr lang="es-ES" sz="1200" noProof="0" dirty="0">
                <a:latin typeface="Arial" panose="020B0604020202020204" pitchFamily="34" charset="0"/>
                <a:cs typeface="Arial" panose="020B0604020202020204" pitchFamily="34" charset="0"/>
              </a:rPr>
              <a:t>En </a:t>
            </a:r>
            <a:r>
              <a:rPr lang="es-ES" sz="1200" noProof="0" dirty="0" err="1">
                <a:latin typeface="Arial" panose="020B0604020202020204" pitchFamily="34" charset="0"/>
                <a:cs typeface="Arial" panose="020B0604020202020204" pitchFamily="34" charset="0"/>
              </a:rPr>
              <a:t>shallow</a:t>
            </a:r>
            <a:r>
              <a:rPr lang="es-ES" sz="1200" noProof="0" dirty="0">
                <a:latin typeface="Arial" panose="020B0604020202020204" pitchFamily="34" charset="0"/>
                <a:cs typeface="Arial" panose="020B0604020202020204" pitchFamily="34" charset="0"/>
              </a:rPr>
              <a:t>, cuando el campo se sale, todavía ve material de índice alto (el </a:t>
            </a:r>
            <a:r>
              <a:rPr lang="es-ES" sz="1200" noProof="0" dirty="0" err="1">
                <a:latin typeface="Arial" panose="020B0604020202020204" pitchFamily="34" charset="0"/>
                <a:cs typeface="Arial" panose="020B0604020202020204" pitchFamily="34" charset="0"/>
              </a:rPr>
              <a:t>slab</a:t>
            </a:r>
            <a:r>
              <a:rPr lang="es-ES" sz="1200" noProof="0" dirty="0">
                <a:latin typeface="Arial" panose="020B0604020202020204" pitchFamily="34" charset="0"/>
                <a:cs typeface="Arial" panose="020B0604020202020204" pitchFamily="34" charset="0"/>
              </a:rPr>
              <a:t>).</a:t>
            </a:r>
          </a:p>
          <a:p>
            <a:pPr algn="just"/>
            <a:r>
              <a:rPr lang="es-ES" sz="1200" noProof="0" dirty="0">
                <a:latin typeface="Arial" panose="020B0604020202020204" pitchFamily="34" charset="0"/>
                <a:cs typeface="Arial" panose="020B0604020202020204" pitchFamily="34" charset="0"/>
              </a:rPr>
              <a:t>En </a:t>
            </a:r>
            <a:r>
              <a:rPr lang="es-ES" sz="1200" noProof="0" dirty="0" err="1">
                <a:latin typeface="Arial" panose="020B0604020202020204" pitchFamily="34" charset="0"/>
                <a:cs typeface="Arial" panose="020B0604020202020204" pitchFamily="34" charset="0"/>
              </a:rPr>
              <a:t>deep</a:t>
            </a:r>
            <a:r>
              <a:rPr lang="es-ES" sz="1200" noProof="0" dirty="0">
                <a:latin typeface="Arial" panose="020B0604020202020204" pitchFamily="34" charset="0"/>
                <a:cs typeface="Arial" panose="020B0604020202020204" pitchFamily="34" charset="0"/>
              </a:rPr>
              <a:t>, cuando el campo se sale, va directamente al SiO2, que tiene índice bajo.</a:t>
            </a:r>
          </a:p>
          <a:p>
            <a:pPr algn="just"/>
            <a:r>
              <a:rPr lang="es-ES" sz="1200" noProof="0" dirty="0">
                <a:latin typeface="Arial" panose="020B0604020202020204" pitchFamily="34" charset="0"/>
                <a:cs typeface="Arial" panose="020B0604020202020204" pitchFamily="34" charset="0"/>
              </a:rPr>
              <a:t>Como consecuencia, en </a:t>
            </a:r>
            <a:r>
              <a:rPr lang="es-ES" sz="1200" noProof="0" dirty="0" err="1">
                <a:latin typeface="Arial" panose="020B0604020202020204" pitchFamily="34" charset="0"/>
                <a:cs typeface="Arial" panose="020B0604020202020204" pitchFamily="34" charset="0"/>
              </a:rPr>
              <a:t>shallow</a:t>
            </a:r>
            <a:r>
              <a:rPr lang="es-ES" sz="1200" noProof="0" dirty="0">
                <a:latin typeface="Arial" panose="020B0604020202020204" pitchFamily="34" charset="0"/>
                <a:cs typeface="Arial" panose="020B0604020202020204" pitchFamily="34" charset="0"/>
              </a:rPr>
              <a:t> esos modos tienen un índice efectivo mayor y en </a:t>
            </a:r>
            <a:r>
              <a:rPr lang="es-ES" sz="1200" noProof="0" dirty="0" err="1">
                <a:latin typeface="Arial" panose="020B0604020202020204" pitchFamily="34" charset="0"/>
                <a:cs typeface="Arial" panose="020B0604020202020204" pitchFamily="34" charset="0"/>
              </a:rPr>
              <a:t>deep</a:t>
            </a:r>
            <a:r>
              <a:rPr lang="es-ES" sz="1200" noProof="0" dirty="0">
                <a:latin typeface="Arial" panose="020B0604020202020204" pitchFamily="34" charset="0"/>
                <a:cs typeface="Arial" panose="020B0604020202020204" pitchFamily="34" charset="0"/>
              </a:rPr>
              <a:t> al propagarse más en material de índice bajo, su </a:t>
            </a:r>
            <a:r>
              <a:rPr lang="es-ES" sz="1200" noProof="0" dirty="0" err="1">
                <a:latin typeface="Arial" panose="020B0604020202020204" pitchFamily="34" charset="0"/>
                <a:cs typeface="Arial" panose="020B0604020202020204" pitchFamily="34" charset="0"/>
              </a:rPr>
              <a:t>neff</a:t>
            </a:r>
            <a:r>
              <a:rPr lang="es-ES" sz="1200" noProof="0" dirty="0">
                <a:latin typeface="Arial" panose="020B0604020202020204" pitchFamily="34" charset="0"/>
                <a:cs typeface="Arial" panose="020B0604020202020204" pitchFamily="34" charset="0"/>
              </a:rPr>
              <a:t> disminuye.</a:t>
            </a:r>
          </a:p>
          <a:p>
            <a:pPr algn="just"/>
            <a:r>
              <a:rPr lang="es-ES" sz="1200" noProof="0" dirty="0">
                <a:latin typeface="Arial" panose="020B0604020202020204" pitchFamily="34" charset="0"/>
                <a:cs typeface="Arial" panose="020B0604020202020204" pitchFamily="34" charset="0"/>
              </a:rPr>
              <a:t>Es decir, el </a:t>
            </a:r>
            <a:r>
              <a:rPr lang="es-ES" sz="1200" noProof="0" dirty="0" err="1">
                <a:latin typeface="Arial" panose="020B0604020202020204" pitchFamily="34" charset="0"/>
                <a:cs typeface="Arial" panose="020B0604020202020204" pitchFamily="34" charset="0"/>
              </a:rPr>
              <a:t>slab</a:t>
            </a:r>
            <a:r>
              <a:rPr lang="es-ES" sz="1200" noProof="0" dirty="0">
                <a:latin typeface="Arial" panose="020B0604020202020204" pitchFamily="34" charset="0"/>
                <a:cs typeface="Arial" panose="020B0604020202020204" pitchFamily="34" charset="0"/>
              </a:rPr>
              <a:t> actúa como apoyo de alto índice y Eleva el </a:t>
            </a:r>
            <a:r>
              <a:rPr lang="es-ES" sz="1200" noProof="0" dirty="0" err="1">
                <a:latin typeface="Arial" panose="020B0604020202020204" pitchFamily="34" charset="0"/>
                <a:cs typeface="Arial" panose="020B0604020202020204" pitchFamily="34" charset="0"/>
              </a:rPr>
              <a:t>neff</a:t>
            </a:r>
            <a:r>
              <a:rPr lang="es-ES" sz="1200" noProof="0" dirty="0">
                <a:latin typeface="Arial" panose="020B0604020202020204" pitchFamily="34" charset="0"/>
                <a:cs typeface="Arial" panose="020B0604020202020204" pitchFamily="34" charset="0"/>
              </a:rPr>
              <a:t> de los modos menos confinados.</a:t>
            </a:r>
          </a:p>
        </p:txBody>
      </p:sp>
      <p:sp>
        <p:nvSpPr>
          <p:cNvPr id="5" name="Rectángulo 4">
            <a:extLst>
              <a:ext uri="{FF2B5EF4-FFF2-40B4-BE49-F238E27FC236}">
                <a16:creationId xmlns:a16="http://schemas.microsoft.com/office/drawing/2014/main" id="{88F19863-7091-B8CA-F848-DBEA5CEEA027}"/>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sp>
        <p:nvSpPr>
          <p:cNvPr id="6" name="CuadroTexto 5">
            <a:extLst>
              <a:ext uri="{FF2B5EF4-FFF2-40B4-BE49-F238E27FC236}">
                <a16:creationId xmlns:a16="http://schemas.microsoft.com/office/drawing/2014/main" id="{3C4E7A47-20E2-3C27-D841-5A665642F6E2}"/>
              </a:ext>
            </a:extLst>
          </p:cNvPr>
          <p:cNvSpPr txBox="1"/>
          <p:nvPr/>
        </p:nvSpPr>
        <p:spPr>
          <a:xfrm>
            <a:off x="2285455" y="2671278"/>
            <a:ext cx="1980542" cy="923330"/>
          </a:xfrm>
          <a:prstGeom prst="rect">
            <a:avLst/>
          </a:prstGeom>
          <a:noFill/>
        </p:spPr>
        <p:txBody>
          <a:bodyPr wrap="none" rtlCol="0">
            <a:spAutoFit/>
          </a:bodyPr>
          <a:lstStyle/>
          <a:p>
            <a:pPr algn="ctr"/>
            <a:r>
              <a:rPr lang="es-ES" b="1" noProof="0" dirty="0" err="1"/>
              <a:t>shallow</a:t>
            </a:r>
            <a:r>
              <a:rPr lang="es-ES" noProof="0" dirty="0"/>
              <a:t> </a:t>
            </a:r>
            <a:r>
              <a:rPr lang="es-ES" noProof="0" dirty="0" err="1"/>
              <a:t>waveguide</a:t>
            </a:r>
            <a:endParaRPr lang="es-ES" noProof="0" dirty="0"/>
          </a:p>
          <a:p>
            <a:pPr algn="ctr"/>
            <a:endParaRPr lang="es-ES" noProof="0" dirty="0"/>
          </a:p>
          <a:p>
            <a:pPr algn="ctr"/>
            <a:r>
              <a:rPr lang="es-ES" noProof="0" dirty="0"/>
              <a:t>Paste </a:t>
            </a:r>
            <a:r>
              <a:rPr lang="es-ES" noProof="0" dirty="0" err="1"/>
              <a:t>plot</a:t>
            </a:r>
            <a:r>
              <a:rPr lang="es-ES" noProof="0" dirty="0"/>
              <a:t> </a:t>
            </a:r>
            <a:r>
              <a:rPr lang="es-ES" noProof="0" dirty="0" err="1"/>
              <a:t>here</a:t>
            </a:r>
            <a:endParaRPr lang="es-ES" noProof="0" dirty="0"/>
          </a:p>
        </p:txBody>
      </p:sp>
      <p:sp>
        <p:nvSpPr>
          <p:cNvPr id="7" name="Rectángulo 6">
            <a:extLst>
              <a:ext uri="{FF2B5EF4-FFF2-40B4-BE49-F238E27FC236}">
                <a16:creationId xmlns:a16="http://schemas.microsoft.com/office/drawing/2014/main" id="{21F754A5-65BC-14A3-5F55-75716FFA9027}"/>
              </a:ext>
            </a:extLst>
          </p:cNvPr>
          <p:cNvSpPr/>
          <p:nvPr/>
        </p:nvSpPr>
        <p:spPr>
          <a:xfrm>
            <a:off x="64768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sp>
        <p:nvSpPr>
          <p:cNvPr id="8" name="CuadroTexto 7">
            <a:extLst>
              <a:ext uri="{FF2B5EF4-FFF2-40B4-BE49-F238E27FC236}">
                <a16:creationId xmlns:a16="http://schemas.microsoft.com/office/drawing/2014/main" id="{CD9C65D4-5494-F5CE-1094-CB0A32C33876}"/>
              </a:ext>
            </a:extLst>
          </p:cNvPr>
          <p:cNvSpPr txBox="1"/>
          <p:nvPr/>
        </p:nvSpPr>
        <p:spPr>
          <a:xfrm>
            <a:off x="8281672" y="2671278"/>
            <a:ext cx="1722908" cy="923330"/>
          </a:xfrm>
          <a:prstGeom prst="rect">
            <a:avLst/>
          </a:prstGeom>
          <a:noFill/>
        </p:spPr>
        <p:txBody>
          <a:bodyPr wrap="none" rtlCol="0">
            <a:spAutoFit/>
          </a:bodyPr>
          <a:lstStyle/>
          <a:p>
            <a:pPr algn="ctr"/>
            <a:r>
              <a:rPr lang="es-ES" b="1" noProof="0" dirty="0" err="1"/>
              <a:t>deep</a:t>
            </a:r>
            <a:r>
              <a:rPr lang="es-ES" noProof="0" dirty="0"/>
              <a:t> </a:t>
            </a:r>
            <a:r>
              <a:rPr lang="es-ES" noProof="0" dirty="0" err="1"/>
              <a:t>waveguide</a:t>
            </a:r>
            <a:endParaRPr lang="es-ES" noProof="0" dirty="0"/>
          </a:p>
          <a:p>
            <a:pPr algn="ctr"/>
            <a:endParaRPr lang="es-ES" noProof="0" dirty="0"/>
          </a:p>
          <a:p>
            <a:pPr algn="ctr"/>
            <a:r>
              <a:rPr lang="es-ES" noProof="0" dirty="0"/>
              <a:t>Paste </a:t>
            </a:r>
            <a:r>
              <a:rPr lang="es-ES" noProof="0" dirty="0" err="1"/>
              <a:t>plot</a:t>
            </a:r>
            <a:r>
              <a:rPr lang="es-ES" noProof="0" dirty="0"/>
              <a:t> </a:t>
            </a:r>
            <a:r>
              <a:rPr lang="es-ES" noProof="0" dirty="0" err="1"/>
              <a:t>here</a:t>
            </a:r>
            <a:endParaRPr lang="es-ES" noProof="0" dirty="0"/>
          </a:p>
        </p:txBody>
      </p:sp>
      <p:sp>
        <p:nvSpPr>
          <p:cNvPr id="9" name="CuadroTexto 8">
            <a:extLst>
              <a:ext uri="{FF2B5EF4-FFF2-40B4-BE49-F238E27FC236}">
                <a16:creationId xmlns:a16="http://schemas.microsoft.com/office/drawing/2014/main" id="{8BD4C233-B5D9-B6AA-93A8-CF2F130CFF9C}"/>
              </a:ext>
            </a:extLst>
          </p:cNvPr>
          <p:cNvSpPr txBox="1"/>
          <p:nvPr/>
        </p:nvSpPr>
        <p:spPr>
          <a:xfrm>
            <a:off x="642989" y="4402885"/>
            <a:ext cx="2269787" cy="369332"/>
          </a:xfrm>
          <a:prstGeom prst="rect">
            <a:avLst/>
          </a:prstGeom>
          <a:noFill/>
        </p:spPr>
        <p:txBody>
          <a:bodyPr wrap="square">
            <a:spAutoFit/>
          </a:bodyPr>
          <a:lstStyle/>
          <a:p>
            <a:r>
              <a:rPr lang="es-ES" noProof="0" dirty="0" err="1"/>
              <a:t>slab</a:t>
            </a:r>
            <a:r>
              <a:rPr lang="es-ES" noProof="0" dirty="0"/>
              <a:t> = 150nm</a:t>
            </a:r>
          </a:p>
        </p:txBody>
      </p:sp>
      <p:pic>
        <p:nvPicPr>
          <p:cNvPr id="10" name="Imagen 9" descr="Gráfico, Gráfico de líneas&#10;&#10;El contenido generado por IA puede ser incorrecto.">
            <a:extLst>
              <a:ext uri="{FF2B5EF4-FFF2-40B4-BE49-F238E27FC236}">
                <a16:creationId xmlns:a16="http://schemas.microsoft.com/office/drawing/2014/main" id="{FF264A34-D9A3-3C06-EBCC-A6B797A7AEF4}"/>
              </a:ext>
            </a:extLst>
          </p:cNvPr>
          <p:cNvPicPr>
            <a:picLocks noChangeAspect="1"/>
          </p:cNvPicPr>
          <p:nvPr/>
        </p:nvPicPr>
        <p:blipFill>
          <a:blip r:embed="rId5"/>
          <a:stretch>
            <a:fillRect/>
          </a:stretch>
        </p:blipFill>
        <p:spPr>
          <a:xfrm>
            <a:off x="6591458" y="1431481"/>
            <a:ext cx="5198501" cy="3032459"/>
          </a:xfrm>
          <a:prstGeom prst="rect">
            <a:avLst/>
          </a:prstGeom>
        </p:spPr>
      </p:pic>
      <p:pic>
        <p:nvPicPr>
          <p:cNvPr id="12" name="Imagen 11" descr="Gráfico, Gráfico de líneas&#10;&#10;El contenido generado por IA puede ser incorrecto.">
            <a:extLst>
              <a:ext uri="{FF2B5EF4-FFF2-40B4-BE49-F238E27FC236}">
                <a16:creationId xmlns:a16="http://schemas.microsoft.com/office/drawing/2014/main" id="{B64492C4-BD29-DCBC-CB97-F249CA853AFD}"/>
              </a:ext>
            </a:extLst>
          </p:cNvPr>
          <p:cNvPicPr>
            <a:picLocks noChangeAspect="1"/>
          </p:cNvPicPr>
          <p:nvPr/>
        </p:nvPicPr>
        <p:blipFill>
          <a:blip r:embed="rId6"/>
          <a:stretch>
            <a:fillRect/>
          </a:stretch>
        </p:blipFill>
        <p:spPr>
          <a:xfrm>
            <a:off x="655738" y="1477669"/>
            <a:ext cx="5286274" cy="2995687"/>
          </a:xfrm>
          <a:prstGeom prst="rect">
            <a:avLst/>
          </a:prstGeom>
        </p:spPr>
      </p:pic>
    </p:spTree>
    <p:extLst>
      <p:ext uri="{BB962C8B-B14F-4D97-AF65-F5344CB8AC3E}">
        <p14:creationId xmlns:p14="http://schemas.microsoft.com/office/powerpoint/2010/main" val="3712356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s-ES" sz="2500" noProof="0" dirty="0" err="1"/>
              <a:t>Learning</a:t>
            </a:r>
            <a:r>
              <a:rPr lang="es-ES" sz="2500" noProof="0" dirty="0"/>
              <a:t> </a:t>
            </a:r>
            <a:r>
              <a:rPr lang="es-ES" sz="2500" noProof="0" dirty="0" err="1"/>
              <a:t>outcome</a:t>
            </a:r>
            <a:r>
              <a:rPr lang="es-ES" sz="2500" noProof="0" dirty="0"/>
              <a:t> #3 – </a:t>
            </a:r>
            <a:r>
              <a:rPr lang="es-ES" sz="2500" noProof="0" dirty="0" err="1"/>
              <a:t>Width</a:t>
            </a:r>
            <a:r>
              <a:rPr lang="es-ES" sz="2500" noProof="0" dirty="0"/>
              <a:t> </a:t>
            </a:r>
            <a:r>
              <a:rPr lang="es-ES" sz="2500" noProof="0" dirty="0" err="1"/>
              <a:t>dependence</a:t>
            </a:r>
            <a:br>
              <a:rPr lang="es-ES" sz="2500" spc="-5" noProof="0" dirty="0">
                <a:latin typeface="+mj-lt"/>
                <a:cs typeface="Lucida Sans"/>
              </a:rPr>
            </a:br>
            <a:r>
              <a:rPr lang="es-ES" b="0" noProof="0" dirty="0" err="1"/>
              <a:t>Width</a:t>
            </a:r>
            <a:r>
              <a:rPr lang="es-ES" b="0" noProof="0" dirty="0"/>
              <a:t> 0.6 - 1.6 µm (step 0.1 µm) – </a:t>
            </a:r>
            <a:r>
              <a:rPr lang="es-ES" b="0" noProof="0" dirty="0" err="1"/>
              <a:t>Wavelength</a:t>
            </a:r>
            <a:r>
              <a:rPr lang="es-ES" b="0" noProof="0" dirty="0"/>
              <a:t> 1.55 µm </a:t>
            </a:r>
            <a:endParaRPr lang="es-ES" sz="2500" b="0" noProof="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noProof="0" smtClean="0"/>
              <a:t>6</a:t>
            </a:fld>
            <a:endParaRPr lang="es-ES" noProof="0" dirty="0"/>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noProof="0" dirty="0"/>
              <a:t>LAB 1.0 WAVEGUIDES</a:t>
            </a:r>
          </a:p>
        </p:txBody>
      </p:sp>
      <p:sp>
        <p:nvSpPr>
          <p:cNvPr id="7" name="Rectángulo 6">
            <a:extLst>
              <a:ext uri="{FF2B5EF4-FFF2-40B4-BE49-F238E27FC236}">
                <a16:creationId xmlns:a16="http://schemas.microsoft.com/office/drawing/2014/main" id="{FBC7D187-267A-ADD4-764C-D3820B8ED302}"/>
              </a:ext>
            </a:extLst>
          </p:cNvPr>
          <p:cNvSpPr/>
          <p:nvPr/>
        </p:nvSpPr>
        <p:spPr>
          <a:xfrm>
            <a:off x="609441" y="1418372"/>
            <a:ext cx="11199971" cy="45252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sp>
        <p:nvSpPr>
          <p:cNvPr id="8" name="CuadroTexto 7">
            <a:extLst>
              <a:ext uri="{FF2B5EF4-FFF2-40B4-BE49-F238E27FC236}">
                <a16:creationId xmlns:a16="http://schemas.microsoft.com/office/drawing/2014/main" id="{1EF5BFDA-8EC1-8C73-A932-F36C4DB93C73}"/>
              </a:ext>
            </a:extLst>
          </p:cNvPr>
          <p:cNvSpPr txBox="1"/>
          <p:nvPr/>
        </p:nvSpPr>
        <p:spPr>
          <a:xfrm>
            <a:off x="2286000" y="2671278"/>
            <a:ext cx="7718580" cy="923330"/>
          </a:xfrm>
          <a:prstGeom prst="rect">
            <a:avLst/>
          </a:prstGeom>
          <a:noFill/>
        </p:spPr>
        <p:txBody>
          <a:bodyPr wrap="square" rtlCol="0">
            <a:spAutoFit/>
          </a:bodyPr>
          <a:lstStyle/>
          <a:p>
            <a:pPr algn="ctr"/>
            <a:r>
              <a:rPr lang="es-ES" b="1" noProof="0" dirty="0" err="1"/>
              <a:t>deep</a:t>
            </a:r>
            <a:r>
              <a:rPr lang="es-ES" noProof="0" dirty="0"/>
              <a:t> </a:t>
            </a:r>
            <a:r>
              <a:rPr lang="es-ES" noProof="0" dirty="0" err="1"/>
              <a:t>waveguide</a:t>
            </a:r>
            <a:endParaRPr lang="es-ES" noProof="0" dirty="0"/>
          </a:p>
          <a:p>
            <a:pPr algn="ctr"/>
            <a:endParaRPr lang="es-ES" noProof="0" dirty="0"/>
          </a:p>
          <a:p>
            <a:pPr algn="ctr"/>
            <a:r>
              <a:rPr lang="es-ES" noProof="0" dirty="0"/>
              <a:t>Paste </a:t>
            </a:r>
            <a:r>
              <a:rPr lang="es-ES" noProof="0" dirty="0" err="1"/>
              <a:t>plot</a:t>
            </a:r>
            <a:r>
              <a:rPr lang="es-ES" noProof="0" dirty="0"/>
              <a:t> </a:t>
            </a:r>
            <a:r>
              <a:rPr lang="es-ES" noProof="0" dirty="0" err="1"/>
              <a:t>here</a:t>
            </a:r>
            <a:endParaRPr lang="es-ES" noProof="0" dirty="0"/>
          </a:p>
        </p:txBody>
      </p:sp>
      <p:pic>
        <p:nvPicPr>
          <p:cNvPr id="12" name="Imagen 11" descr="Gráfico, Gráfico de líneas&#10;&#10;El contenido generado por IA puede ser incorrecto.">
            <a:extLst>
              <a:ext uri="{FF2B5EF4-FFF2-40B4-BE49-F238E27FC236}">
                <a16:creationId xmlns:a16="http://schemas.microsoft.com/office/drawing/2014/main" id="{9A7F4AD8-FE3D-14D1-D4AB-3B85A0200D0D}"/>
              </a:ext>
            </a:extLst>
          </p:cNvPr>
          <p:cNvPicPr>
            <a:picLocks noChangeAspect="1"/>
          </p:cNvPicPr>
          <p:nvPr/>
        </p:nvPicPr>
        <p:blipFill>
          <a:blip r:embed="rId5"/>
          <a:stretch>
            <a:fillRect/>
          </a:stretch>
        </p:blipFill>
        <p:spPr>
          <a:xfrm>
            <a:off x="2400300" y="1526662"/>
            <a:ext cx="7505700" cy="4369390"/>
          </a:xfrm>
          <a:prstGeom prst="rect">
            <a:avLst/>
          </a:prstGeom>
        </p:spPr>
      </p:pic>
    </p:spTree>
    <p:extLst>
      <p:ext uri="{BB962C8B-B14F-4D97-AF65-F5344CB8AC3E}">
        <p14:creationId xmlns:p14="http://schemas.microsoft.com/office/powerpoint/2010/main" val="29001174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C6A326-3C05-62F4-AA73-9AFE897F1A55}"/>
              </a:ext>
            </a:extLst>
          </p:cNvPr>
          <p:cNvSpPr>
            <a:spLocks noGrp="1"/>
          </p:cNvSpPr>
          <p:nvPr>
            <p:ph type="title"/>
          </p:nvPr>
        </p:nvSpPr>
        <p:spPr>
          <a:xfrm>
            <a:off x="590550" y="206752"/>
            <a:ext cx="10991850" cy="692497"/>
          </a:xfrm>
        </p:spPr>
        <p:txBody>
          <a:bodyPr/>
          <a:lstStyle/>
          <a:p>
            <a:r>
              <a:rPr lang="es-ES" sz="2500" noProof="0" dirty="0" err="1"/>
              <a:t>Learning</a:t>
            </a:r>
            <a:r>
              <a:rPr lang="es-ES" sz="2500" noProof="0" dirty="0"/>
              <a:t> </a:t>
            </a:r>
            <a:r>
              <a:rPr lang="es-ES" sz="2500" noProof="0" dirty="0" err="1"/>
              <a:t>outcome</a:t>
            </a:r>
            <a:r>
              <a:rPr lang="es-ES" sz="2500" noProof="0" dirty="0"/>
              <a:t> #3 – </a:t>
            </a:r>
            <a:r>
              <a:rPr lang="es-ES" sz="2500" noProof="0" dirty="0" err="1"/>
              <a:t>Width</a:t>
            </a:r>
            <a:r>
              <a:rPr lang="es-ES" sz="2500" noProof="0" dirty="0"/>
              <a:t> </a:t>
            </a:r>
            <a:r>
              <a:rPr lang="es-ES" sz="2500" noProof="0" dirty="0" err="1"/>
              <a:t>dependence</a:t>
            </a:r>
            <a:br>
              <a:rPr lang="es-ES" sz="2500" spc="-5" noProof="0" dirty="0">
                <a:cs typeface="Lucida Sans"/>
              </a:rPr>
            </a:br>
            <a:r>
              <a:rPr lang="es-ES" b="0" noProof="0" dirty="0" err="1"/>
              <a:t>Width</a:t>
            </a:r>
            <a:r>
              <a:rPr lang="es-ES" b="0" noProof="0" dirty="0"/>
              <a:t> 0.6 - 1.6 µm (step 0.1 µm) – </a:t>
            </a:r>
            <a:r>
              <a:rPr lang="es-ES" b="0" noProof="0" dirty="0" err="1"/>
              <a:t>Wavelength</a:t>
            </a:r>
            <a:r>
              <a:rPr lang="es-ES" b="0" noProof="0" dirty="0"/>
              <a:t> 1.55 µm </a:t>
            </a:r>
            <a:endParaRPr lang="es-ES" noProof="0" dirty="0"/>
          </a:p>
        </p:txBody>
      </p:sp>
      <p:sp>
        <p:nvSpPr>
          <p:cNvPr id="4" name="Marcador de pie de página 3">
            <a:extLst>
              <a:ext uri="{FF2B5EF4-FFF2-40B4-BE49-F238E27FC236}">
                <a16:creationId xmlns:a16="http://schemas.microsoft.com/office/drawing/2014/main" id="{39296550-29D2-6D43-3C48-69A52EE39D4B}"/>
              </a:ext>
            </a:extLst>
          </p:cNvPr>
          <p:cNvSpPr>
            <a:spLocks noGrp="1"/>
          </p:cNvSpPr>
          <p:nvPr>
            <p:ph type="ftr" sz="quarter" idx="5"/>
          </p:nvPr>
        </p:nvSpPr>
        <p:spPr/>
        <p:txBody>
          <a:bodyPr/>
          <a:lstStyle/>
          <a:p>
            <a:pPr marL="12700">
              <a:spcBef>
                <a:spcPts val="15"/>
              </a:spcBef>
            </a:pPr>
            <a:r>
              <a:rPr lang="es-ES" spc="-5" noProof="0" dirty="0"/>
              <a:t>LAB 1.0 WAVEGUIDES</a:t>
            </a:r>
          </a:p>
        </p:txBody>
      </p:sp>
      <p:sp>
        <p:nvSpPr>
          <p:cNvPr id="5" name="Marcador de número de diapositiva 4">
            <a:extLst>
              <a:ext uri="{FF2B5EF4-FFF2-40B4-BE49-F238E27FC236}">
                <a16:creationId xmlns:a16="http://schemas.microsoft.com/office/drawing/2014/main" id="{57D7C628-63F4-F5D2-1120-DF37CC0AEE57}"/>
              </a:ext>
            </a:extLst>
          </p:cNvPr>
          <p:cNvSpPr>
            <a:spLocks noGrp="1"/>
          </p:cNvSpPr>
          <p:nvPr>
            <p:ph type="sldNum" sz="quarter" idx="7"/>
          </p:nvPr>
        </p:nvSpPr>
        <p:spPr/>
        <p:txBody>
          <a:bodyPr/>
          <a:lstStyle/>
          <a:p>
            <a:fld id="{B6F15528-21DE-4FAA-801E-634DDDAF4B2B}" type="slidenum">
              <a:rPr lang="es-ES" noProof="0" smtClean="0"/>
              <a:t>7</a:t>
            </a:fld>
            <a:endParaRPr lang="es-ES" noProof="0" dirty="0"/>
          </a:p>
        </p:txBody>
      </p:sp>
      <p:sp>
        <p:nvSpPr>
          <p:cNvPr id="6" name="CuadroTexto 5">
            <a:extLst>
              <a:ext uri="{FF2B5EF4-FFF2-40B4-BE49-F238E27FC236}">
                <a16:creationId xmlns:a16="http://schemas.microsoft.com/office/drawing/2014/main" id="{FA9E4385-FF09-2332-F19D-DEC4B578B539}"/>
              </a:ext>
            </a:extLst>
          </p:cNvPr>
          <p:cNvSpPr txBox="1"/>
          <p:nvPr/>
        </p:nvSpPr>
        <p:spPr>
          <a:xfrm>
            <a:off x="372269" y="1143000"/>
            <a:ext cx="11199971" cy="3785652"/>
          </a:xfrm>
          <a:prstGeom prst="rect">
            <a:avLst/>
          </a:prstGeom>
          <a:solidFill>
            <a:schemeClr val="bg1">
              <a:lumMod val="95000"/>
            </a:schemeClr>
          </a:solidFill>
          <a:ln w="28575">
            <a:solidFill>
              <a:srgbClr val="E0700D"/>
            </a:solidFill>
          </a:ln>
        </p:spPr>
        <p:txBody>
          <a:bodyPr wrap="square" rtlCol="0">
            <a:spAutoFit/>
          </a:bodyPr>
          <a:lstStyle/>
          <a:p>
            <a:pPr algn="just"/>
            <a:r>
              <a:rPr lang="es-ES" sz="1200" b="1" noProof="0" dirty="0" err="1">
                <a:latin typeface="Arial" panose="020B0604020202020204" pitchFamily="34" charset="0"/>
                <a:cs typeface="Arial" panose="020B0604020202020204" pitchFamily="34" charset="0"/>
              </a:rPr>
              <a:t>Comment</a:t>
            </a:r>
            <a:r>
              <a:rPr lang="es-ES" sz="1200" b="1" noProof="0" dirty="0">
                <a:latin typeface="Arial" panose="020B0604020202020204" pitchFamily="34" charset="0"/>
                <a:cs typeface="Arial" panose="020B0604020202020204" pitchFamily="34" charset="0"/>
              </a:rPr>
              <a:t> </a:t>
            </a:r>
            <a:r>
              <a:rPr lang="es-ES" sz="1200" b="1" noProof="0" dirty="0" err="1">
                <a:latin typeface="Arial" panose="020B0604020202020204" pitchFamily="34" charset="0"/>
                <a:cs typeface="Arial" panose="020B0604020202020204" pitchFamily="34" charset="0"/>
              </a:rPr>
              <a:t>results</a:t>
            </a:r>
            <a:r>
              <a:rPr lang="es-ES" sz="1200" b="1" noProof="0" dirty="0">
                <a:latin typeface="Arial" panose="020B0604020202020204" pitchFamily="34" charset="0"/>
                <a:cs typeface="Arial" panose="020B0604020202020204" pitchFamily="34" charset="0"/>
              </a:rPr>
              <a:t> (</a:t>
            </a:r>
            <a:r>
              <a:rPr lang="es-ES" sz="1200" b="1" noProof="0" dirty="0" err="1">
                <a:latin typeface="Arial" panose="020B0604020202020204" pitchFamily="34" charset="0"/>
                <a:cs typeface="Arial" panose="020B0604020202020204" pitchFamily="34" charset="0"/>
              </a:rPr>
              <a:t>neff</a:t>
            </a:r>
            <a:r>
              <a:rPr lang="es-ES" sz="1200" b="1" noProof="0" dirty="0">
                <a:latin typeface="Arial" panose="020B0604020202020204" pitchFamily="34" charset="0"/>
                <a:cs typeface="Arial" panose="020B0604020202020204" pitchFamily="34" charset="0"/>
              </a:rPr>
              <a:t> </a:t>
            </a:r>
            <a:r>
              <a:rPr lang="es-ES" sz="1200" b="1" noProof="0" dirty="0" err="1">
                <a:latin typeface="Arial" panose="020B0604020202020204" pitchFamily="34" charset="0"/>
                <a:cs typeface="Arial" panose="020B0604020202020204" pitchFamily="34" charset="0"/>
              </a:rPr>
              <a:t>changes</a:t>
            </a:r>
            <a:r>
              <a:rPr lang="es-ES" sz="1200" b="1" noProof="0" dirty="0">
                <a:latin typeface="Arial" panose="020B0604020202020204" pitchFamily="34" charset="0"/>
                <a:cs typeface="Arial" panose="020B0604020202020204" pitchFamily="34" charset="0"/>
              </a:rPr>
              <a:t> </a:t>
            </a:r>
            <a:r>
              <a:rPr lang="es-ES" sz="1200" b="1" noProof="0" dirty="0" err="1">
                <a:latin typeface="Arial" panose="020B0604020202020204" pitchFamily="34" charset="0"/>
                <a:cs typeface="Arial" panose="020B0604020202020204" pitchFamily="34" charset="0"/>
              </a:rPr>
              <a:t>this</a:t>
            </a:r>
            <a:r>
              <a:rPr lang="es-ES" sz="1200" b="1" noProof="0" dirty="0">
                <a:latin typeface="Arial" panose="020B0604020202020204" pitchFamily="34" charset="0"/>
                <a:cs typeface="Arial" panose="020B0604020202020204" pitchFamily="34" charset="0"/>
              </a:rPr>
              <a:t> </a:t>
            </a:r>
            <a:r>
              <a:rPr lang="es-ES" sz="1200" b="1" noProof="0" dirty="0" err="1">
                <a:latin typeface="Arial" panose="020B0604020202020204" pitchFamily="34" charset="0"/>
                <a:cs typeface="Arial" panose="020B0604020202020204" pitchFamily="34" charset="0"/>
              </a:rPr>
              <a:t>way</a:t>
            </a:r>
            <a:r>
              <a:rPr lang="es-ES" sz="1200" b="1" noProof="0" dirty="0">
                <a:latin typeface="Arial" panose="020B0604020202020204" pitchFamily="34" charset="0"/>
                <a:cs typeface="Arial" panose="020B0604020202020204" pitchFamily="34" charset="0"/>
              </a:rPr>
              <a:t> </a:t>
            </a:r>
            <a:r>
              <a:rPr lang="es-ES" sz="1200" b="1" noProof="0" dirty="0" err="1">
                <a:latin typeface="Arial" panose="020B0604020202020204" pitchFamily="34" charset="0"/>
                <a:cs typeface="Arial" panose="020B0604020202020204" pitchFamily="34" charset="0"/>
              </a:rPr>
              <a:t>with</a:t>
            </a:r>
            <a:r>
              <a:rPr lang="es-ES" sz="1200" b="1" noProof="0" dirty="0">
                <a:latin typeface="Arial" panose="020B0604020202020204" pitchFamily="34" charset="0"/>
                <a:cs typeface="Arial" panose="020B0604020202020204" pitchFamily="34" charset="0"/>
              </a:rPr>
              <a:t> </a:t>
            </a:r>
            <a:r>
              <a:rPr lang="es-ES" sz="1200" b="1" noProof="0" dirty="0" err="1">
                <a:latin typeface="Arial" panose="020B0604020202020204" pitchFamily="34" charset="0"/>
                <a:cs typeface="Arial" panose="020B0604020202020204" pitchFamily="34" charset="0"/>
              </a:rPr>
              <a:t>width</a:t>
            </a:r>
            <a:r>
              <a:rPr lang="es-ES" sz="1200" b="1" noProof="0" dirty="0">
                <a:latin typeface="Arial" panose="020B0604020202020204" pitchFamily="34" charset="0"/>
                <a:cs typeface="Arial" panose="020B0604020202020204" pitchFamily="34" charset="0"/>
              </a:rPr>
              <a:t>, </a:t>
            </a:r>
            <a:r>
              <a:rPr lang="es-ES" sz="1200" b="1" noProof="0" dirty="0" err="1">
                <a:latin typeface="Arial" panose="020B0604020202020204" pitchFamily="34" charset="0"/>
                <a:cs typeface="Arial" panose="020B0604020202020204" pitchFamily="34" charset="0"/>
              </a:rPr>
              <a:t>polarization</a:t>
            </a:r>
            <a:r>
              <a:rPr lang="es-ES" sz="1200" b="1" noProof="0" dirty="0">
                <a:latin typeface="Arial" panose="020B0604020202020204" pitchFamily="34" charset="0"/>
                <a:cs typeface="Arial" panose="020B0604020202020204" pitchFamily="34" charset="0"/>
              </a:rPr>
              <a:t> </a:t>
            </a:r>
            <a:r>
              <a:rPr lang="es-ES" sz="1200" b="1" noProof="0" dirty="0" err="1">
                <a:latin typeface="Arial" panose="020B0604020202020204" pitchFamily="34" charset="0"/>
                <a:cs typeface="Arial" panose="020B0604020202020204" pitchFamily="34" charset="0"/>
              </a:rPr>
              <a:t>behavior</a:t>
            </a:r>
            <a:r>
              <a:rPr lang="es-ES" sz="1200" b="1" noProof="0" dirty="0">
                <a:latin typeface="Arial" panose="020B0604020202020204" pitchFamily="34" charset="0"/>
                <a:cs typeface="Arial" panose="020B0604020202020204" pitchFamily="34" charset="0"/>
              </a:rPr>
              <a:t>, </a:t>
            </a:r>
            <a:r>
              <a:rPr lang="es-ES" sz="1200" b="1" noProof="0" dirty="0" err="1">
                <a:latin typeface="Arial" panose="020B0604020202020204" pitchFamily="34" charset="0"/>
                <a:cs typeface="Arial" panose="020B0604020202020204" pitchFamily="34" charset="0"/>
              </a:rPr>
              <a:t>etc</a:t>
            </a:r>
            <a:r>
              <a:rPr lang="es-ES" sz="1200" b="1" noProof="0" dirty="0">
                <a:latin typeface="Arial" panose="020B0604020202020204" pitchFamily="34" charset="0"/>
                <a:cs typeface="Arial" panose="020B0604020202020204" pitchFamily="34" charset="0"/>
              </a:rPr>
              <a:t>…)</a:t>
            </a:r>
          </a:p>
          <a:p>
            <a:pPr algn="just"/>
            <a:endParaRPr lang="es-ES" sz="1200" noProof="0" dirty="0">
              <a:latin typeface="Arial" panose="020B0604020202020204" pitchFamily="34" charset="0"/>
              <a:cs typeface="Arial" panose="020B0604020202020204" pitchFamily="34" charset="0"/>
            </a:endParaRPr>
          </a:p>
          <a:p>
            <a:pPr algn="just"/>
            <a:r>
              <a:rPr lang="es-ES" sz="1200" noProof="0" dirty="0">
                <a:latin typeface="Arial" panose="020B0604020202020204" pitchFamily="34" charset="0"/>
                <a:cs typeface="Arial" panose="020B0604020202020204" pitchFamily="34" charset="0"/>
              </a:rPr>
              <a:t>Al aumentar la anchura de 0.6 a 1.6 µm, el </a:t>
            </a:r>
            <a:r>
              <a:rPr lang="es-ES" sz="1200" noProof="0" dirty="0" err="1">
                <a:latin typeface="Arial" panose="020B0604020202020204" pitchFamily="34" charset="0"/>
                <a:cs typeface="Arial" panose="020B0604020202020204" pitchFamily="34" charset="0"/>
              </a:rPr>
              <a:t>n_eff</a:t>
            </a:r>
            <a:r>
              <a:rPr lang="es-ES" sz="1200" noProof="0" dirty="0">
                <a:latin typeface="Arial" panose="020B0604020202020204" pitchFamily="34" charset="0"/>
                <a:cs typeface="Arial" panose="020B0604020202020204" pitchFamily="34" charset="0"/>
              </a:rPr>
              <a:t> aumenta para todos los modos. Esto ocurre porque una guía más ancha confina mejor el campo dentro del núcleo. El modo fundamental (</a:t>
            </a:r>
            <a:r>
              <a:rPr lang="es-ES" sz="1200" noProof="0" dirty="0" err="1">
                <a:latin typeface="Arial" panose="020B0604020202020204" pitchFamily="34" charset="0"/>
                <a:cs typeface="Arial" panose="020B0604020202020204" pitchFamily="34" charset="0"/>
              </a:rPr>
              <a:t>Mode</a:t>
            </a:r>
            <a:r>
              <a:rPr lang="es-ES" sz="1200" noProof="0" dirty="0">
                <a:latin typeface="Arial" panose="020B0604020202020204" pitchFamily="34" charset="0"/>
                <a:cs typeface="Arial" panose="020B0604020202020204" pitchFamily="34" charset="0"/>
              </a:rPr>
              <a:t> 0) muestra el mayor incremento y siempre tiene el mayor </a:t>
            </a:r>
            <a:r>
              <a:rPr lang="es-ES" sz="1200" noProof="0" dirty="0" err="1">
                <a:latin typeface="Arial" panose="020B0604020202020204" pitchFamily="34" charset="0"/>
                <a:cs typeface="Arial" panose="020B0604020202020204" pitchFamily="34" charset="0"/>
              </a:rPr>
              <a:t>n_eff</a:t>
            </a:r>
            <a:r>
              <a:rPr lang="es-ES" sz="1200" noProof="0" dirty="0">
                <a:latin typeface="Arial" panose="020B0604020202020204" pitchFamily="34" charset="0"/>
                <a:cs typeface="Arial" panose="020B0604020202020204" pitchFamily="34" charset="0"/>
              </a:rPr>
              <a:t>.</a:t>
            </a:r>
          </a:p>
          <a:p>
            <a:pPr algn="just"/>
            <a:endParaRPr lang="es-ES" sz="1200" noProof="0" dirty="0">
              <a:latin typeface="Arial" panose="020B0604020202020204" pitchFamily="34" charset="0"/>
              <a:cs typeface="Arial" panose="020B0604020202020204" pitchFamily="34" charset="0"/>
            </a:endParaRPr>
          </a:p>
          <a:p>
            <a:pPr algn="just"/>
            <a:r>
              <a:rPr lang="es-ES" sz="1200" noProof="0" dirty="0">
                <a:latin typeface="Arial" panose="020B0604020202020204" pitchFamily="34" charset="0"/>
                <a:cs typeface="Arial" panose="020B0604020202020204" pitchFamily="34" charset="0"/>
              </a:rPr>
              <a:t>Podemos observar que los modos superiores aparecen mejor definidos a partir de anchuras mayores. El </a:t>
            </a:r>
            <a:r>
              <a:rPr lang="es-ES" sz="1200" noProof="0" dirty="0" err="1">
                <a:latin typeface="Arial" panose="020B0604020202020204" pitchFamily="34" charset="0"/>
                <a:cs typeface="Arial" panose="020B0604020202020204" pitchFamily="34" charset="0"/>
              </a:rPr>
              <a:t>mode</a:t>
            </a:r>
            <a:r>
              <a:rPr lang="es-ES" sz="1200" noProof="0" dirty="0">
                <a:latin typeface="Arial" panose="020B0604020202020204" pitchFamily="34" charset="0"/>
                <a:cs typeface="Arial" panose="020B0604020202020204" pitchFamily="34" charset="0"/>
              </a:rPr>
              <a:t> 2 y </a:t>
            </a:r>
            <a:r>
              <a:rPr lang="es-ES" sz="1200" noProof="0" dirty="0" err="1">
                <a:latin typeface="Arial" panose="020B0604020202020204" pitchFamily="34" charset="0"/>
                <a:cs typeface="Arial" panose="020B0604020202020204" pitchFamily="34" charset="0"/>
              </a:rPr>
              <a:t>mode</a:t>
            </a:r>
            <a:r>
              <a:rPr lang="es-ES" sz="1200" noProof="0" dirty="0">
                <a:latin typeface="Arial" panose="020B0604020202020204" pitchFamily="34" charset="0"/>
                <a:cs typeface="Arial" panose="020B0604020202020204" pitchFamily="34" charset="0"/>
              </a:rPr>
              <a:t> 3 están cerca del índice SiO2 cuando la guía es estrecha, indicando confinamiento débil.</a:t>
            </a:r>
          </a:p>
          <a:p>
            <a:pPr algn="just"/>
            <a:endParaRPr lang="es-ES" sz="1200" noProof="0" dirty="0">
              <a:latin typeface="Arial" panose="020B0604020202020204" pitchFamily="34" charset="0"/>
              <a:cs typeface="Arial" panose="020B0604020202020204" pitchFamily="34" charset="0"/>
            </a:endParaRPr>
          </a:p>
          <a:p>
            <a:pPr algn="just"/>
            <a:r>
              <a:rPr lang="es-ES" sz="1200" noProof="0" dirty="0">
                <a:latin typeface="Arial" panose="020B0604020202020204" pitchFamily="34" charset="0"/>
                <a:cs typeface="Arial" panose="020B0604020202020204" pitchFamily="34" charset="0"/>
              </a:rPr>
              <a:t>A medida que aumenta la anchura, estos modos se separan del índice del </a:t>
            </a:r>
            <a:r>
              <a:rPr lang="es-ES" sz="1200" noProof="0" dirty="0" err="1">
                <a:latin typeface="Arial" panose="020B0604020202020204" pitchFamily="34" charset="0"/>
                <a:cs typeface="Arial" panose="020B0604020202020204" pitchFamily="34" charset="0"/>
              </a:rPr>
              <a:t>cladding</a:t>
            </a:r>
            <a:r>
              <a:rPr lang="es-ES" sz="1200" noProof="0" dirty="0">
                <a:latin typeface="Arial" panose="020B0604020202020204" pitchFamily="34" charset="0"/>
                <a:cs typeface="Arial" panose="020B0604020202020204" pitchFamily="34" charset="0"/>
              </a:rPr>
              <a:t> y se vuelven claramente guiados.</a:t>
            </a:r>
          </a:p>
          <a:p>
            <a:pPr algn="just"/>
            <a:r>
              <a:rPr lang="es-ES" sz="1200" noProof="0" dirty="0">
                <a:latin typeface="Arial" panose="020B0604020202020204" pitchFamily="34" charset="0"/>
                <a:cs typeface="Arial" panose="020B0604020202020204" pitchFamily="34" charset="0"/>
              </a:rPr>
              <a:t>En cuanto a polarización, el color indica la fracción TE.</a:t>
            </a:r>
          </a:p>
          <a:p>
            <a:pPr algn="just"/>
            <a:endParaRPr lang="es-ES" sz="1200" noProof="0" dirty="0">
              <a:latin typeface="Arial" panose="020B0604020202020204" pitchFamily="34" charset="0"/>
              <a:cs typeface="Arial" panose="020B0604020202020204" pitchFamily="34" charset="0"/>
            </a:endParaRPr>
          </a:p>
          <a:p>
            <a:pPr algn="just"/>
            <a:r>
              <a:rPr lang="es-ES" sz="1200" noProof="0" dirty="0" err="1">
                <a:latin typeface="Arial" panose="020B0604020202020204" pitchFamily="34" charset="0"/>
                <a:cs typeface="Arial" panose="020B0604020202020204" pitchFamily="34" charset="0"/>
              </a:rPr>
              <a:t>Mode</a:t>
            </a:r>
            <a:r>
              <a:rPr lang="es-ES" sz="1200" noProof="0" dirty="0">
                <a:latin typeface="Arial" panose="020B0604020202020204" pitchFamily="34" charset="0"/>
                <a:cs typeface="Arial" panose="020B0604020202020204" pitchFamily="34" charset="0"/>
              </a:rPr>
              <a:t> 0 es predominantemente TE en todo el rango.</a:t>
            </a:r>
          </a:p>
          <a:p>
            <a:pPr algn="just"/>
            <a:endParaRPr lang="es-ES" sz="1200" noProof="0" dirty="0">
              <a:latin typeface="Arial" panose="020B0604020202020204" pitchFamily="34" charset="0"/>
              <a:cs typeface="Arial" panose="020B0604020202020204" pitchFamily="34" charset="0"/>
            </a:endParaRPr>
          </a:p>
          <a:p>
            <a:pPr algn="just"/>
            <a:r>
              <a:rPr lang="es-ES" sz="1200" noProof="0" dirty="0">
                <a:latin typeface="Arial" panose="020B0604020202020204" pitchFamily="34" charset="0"/>
                <a:cs typeface="Arial" panose="020B0604020202020204" pitchFamily="34" charset="0"/>
              </a:rPr>
              <a:t>Modo 1 es mayoritariamente TM (color azul).</a:t>
            </a:r>
          </a:p>
          <a:p>
            <a:pPr algn="just"/>
            <a:endParaRPr lang="es-ES" sz="1200" noProof="0" dirty="0">
              <a:latin typeface="Arial" panose="020B0604020202020204" pitchFamily="34" charset="0"/>
              <a:cs typeface="Arial" panose="020B0604020202020204" pitchFamily="34" charset="0"/>
            </a:endParaRPr>
          </a:p>
          <a:p>
            <a:pPr algn="just"/>
            <a:r>
              <a:rPr lang="es-ES" sz="1200" noProof="0" dirty="0">
                <a:latin typeface="Arial" panose="020B0604020202020204" pitchFamily="34" charset="0"/>
                <a:cs typeface="Arial" panose="020B0604020202020204" pitchFamily="34" charset="0"/>
              </a:rPr>
              <a:t>Modo 2 y 3 muestran comportamiento más dependiente de la anchura y pueden cambiar su carácter dominante.</a:t>
            </a: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21592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DA0F9-B230-D9FC-3CE7-03BD08CF54F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94400B4-EE16-8E85-AB54-E82FE3B29345}"/>
              </a:ext>
            </a:extLst>
          </p:cNvPr>
          <p:cNvSpPr txBox="1">
            <a:spLocks noGrp="1"/>
          </p:cNvSpPr>
          <p:nvPr>
            <p:ph type="title"/>
          </p:nvPr>
        </p:nvSpPr>
        <p:spPr>
          <a:xfrm>
            <a:off x="685800" y="408883"/>
            <a:ext cx="10994410" cy="1397819"/>
          </a:xfrm>
          <a:prstGeom prst="rect">
            <a:avLst/>
          </a:prstGeom>
        </p:spPr>
        <p:txBody>
          <a:bodyPr vert="horz" wrap="square" lIns="0" tIns="12700" rIns="0" bIns="0" rtlCol="0">
            <a:spAutoFit/>
          </a:bodyPr>
          <a:lstStyle/>
          <a:p>
            <a:pPr marL="12700">
              <a:lnSpc>
                <a:spcPct val="100000"/>
              </a:lnSpc>
              <a:spcBef>
                <a:spcPts val="100"/>
              </a:spcBef>
            </a:pPr>
            <a:r>
              <a:rPr lang="es-ES" sz="2500" noProof="0" dirty="0" err="1"/>
              <a:t>Learning</a:t>
            </a:r>
            <a:r>
              <a:rPr lang="es-ES" sz="2500" noProof="0" dirty="0"/>
              <a:t> </a:t>
            </a:r>
            <a:r>
              <a:rPr lang="es-ES" sz="2500" noProof="0" dirty="0" err="1"/>
              <a:t>outcome</a:t>
            </a:r>
            <a:r>
              <a:rPr lang="es-ES" sz="2500" noProof="0" dirty="0"/>
              <a:t> #4 – </a:t>
            </a:r>
            <a:r>
              <a:rPr lang="es-ES" sz="2500" noProof="0" dirty="0" err="1"/>
              <a:t>Waveguide</a:t>
            </a:r>
            <a:r>
              <a:rPr lang="es-ES" sz="2500" noProof="0" dirty="0"/>
              <a:t> compact </a:t>
            </a:r>
            <a:r>
              <a:rPr lang="es-ES" sz="2500" noProof="0" dirty="0" err="1"/>
              <a:t>model</a:t>
            </a:r>
            <a:br>
              <a:rPr lang="es-ES" sz="2500" spc="-5" noProof="0" dirty="0">
                <a:latin typeface="+mj-lt"/>
                <a:cs typeface="Lucida Sans"/>
              </a:rPr>
            </a:br>
            <a:r>
              <a:rPr lang="es-ES" b="0" noProof="0" dirty="0"/>
              <a:t>- </a:t>
            </a:r>
            <a:r>
              <a:rPr lang="es-ES" b="0" noProof="0" dirty="0" err="1"/>
              <a:t>Find</a:t>
            </a:r>
            <a:r>
              <a:rPr lang="es-ES" b="0" noProof="0" dirty="0"/>
              <a:t> </a:t>
            </a:r>
            <a:r>
              <a:rPr lang="es-ES" b="0" noProof="0" dirty="0" err="1"/>
              <a:t>the</a:t>
            </a:r>
            <a:r>
              <a:rPr lang="es-ES" b="0" noProof="0" dirty="0"/>
              <a:t> compact </a:t>
            </a:r>
            <a:r>
              <a:rPr lang="es-ES" b="0" noProof="0" dirty="0" err="1"/>
              <a:t>models</a:t>
            </a:r>
            <a:r>
              <a:rPr lang="es-ES" b="0" noProof="0" dirty="0"/>
              <a:t> </a:t>
            </a:r>
            <a:r>
              <a:rPr lang="es-ES" b="0" noProof="0" dirty="0" err="1"/>
              <a:t>of</a:t>
            </a:r>
            <a:r>
              <a:rPr lang="es-ES" b="0" noProof="0" dirty="0"/>
              <a:t> </a:t>
            </a:r>
            <a:r>
              <a:rPr lang="es-ES" b="0" noProof="0" dirty="0" err="1"/>
              <a:t>the</a:t>
            </a:r>
            <a:r>
              <a:rPr lang="es-ES" b="0" noProof="0" dirty="0"/>
              <a:t> </a:t>
            </a:r>
            <a:r>
              <a:rPr lang="es-ES" b="0" noProof="0" dirty="0" err="1"/>
              <a:t>following</a:t>
            </a:r>
            <a:r>
              <a:rPr lang="es-ES" b="0" noProof="0" dirty="0"/>
              <a:t> </a:t>
            </a:r>
            <a:r>
              <a:rPr lang="es-ES" b="0" noProof="0" dirty="0" err="1"/>
              <a:t>waveguides</a:t>
            </a:r>
            <a:r>
              <a:rPr lang="es-ES" b="0" noProof="0" dirty="0"/>
              <a:t>: </a:t>
            </a:r>
            <a:br>
              <a:rPr lang="es-ES" b="0" noProof="0" dirty="0"/>
            </a:br>
            <a:r>
              <a:rPr lang="es-ES" noProof="0" dirty="0"/>
              <a:t>Deep</a:t>
            </a:r>
            <a:r>
              <a:rPr lang="es-ES" b="0" noProof="0" dirty="0"/>
              <a:t> </a:t>
            </a:r>
            <a:r>
              <a:rPr lang="es-ES" b="0" noProof="0" dirty="0" err="1"/>
              <a:t>waveguide</a:t>
            </a:r>
            <a:r>
              <a:rPr lang="es-ES" b="0" noProof="0" dirty="0"/>
              <a:t>, h=300nm, w=1.2um   - </a:t>
            </a:r>
            <a:r>
              <a:rPr lang="es-ES" noProof="0" dirty="0" err="1"/>
              <a:t>Shallow</a:t>
            </a:r>
            <a:r>
              <a:rPr lang="es-ES" b="0" noProof="0" dirty="0"/>
              <a:t> </a:t>
            </a:r>
            <a:r>
              <a:rPr lang="es-ES" b="0" noProof="0" dirty="0" err="1"/>
              <a:t>waveguide</a:t>
            </a:r>
            <a:r>
              <a:rPr lang="es-ES" b="0" noProof="0" dirty="0"/>
              <a:t>, </a:t>
            </a:r>
            <a:r>
              <a:rPr lang="es-ES" b="0" noProof="0" dirty="0" err="1"/>
              <a:t>core</a:t>
            </a:r>
            <a:r>
              <a:rPr lang="es-ES" b="0" noProof="0" dirty="0"/>
              <a:t> h=300nm, </a:t>
            </a:r>
            <a:r>
              <a:rPr lang="es-ES" b="0" noProof="0" dirty="0" err="1"/>
              <a:t>slab</a:t>
            </a:r>
            <a:r>
              <a:rPr lang="es-ES" b="0" noProof="0" dirty="0"/>
              <a:t> h=150 nm, w = 1.2um </a:t>
            </a:r>
            <a:br>
              <a:rPr lang="es-ES" b="0" noProof="0" dirty="0"/>
            </a:br>
            <a:endParaRPr lang="es-ES" sz="2500" b="0" noProof="0" dirty="0">
              <a:latin typeface="+mj-lt"/>
              <a:cs typeface="Lucida Sans"/>
            </a:endParaRPr>
          </a:p>
        </p:txBody>
      </p:sp>
      <p:pic>
        <p:nvPicPr>
          <p:cNvPr id="83" name="Gráfico 82">
            <a:extLst>
              <a:ext uri="{FF2B5EF4-FFF2-40B4-BE49-F238E27FC236}">
                <a16:creationId xmlns:a16="http://schemas.microsoft.com/office/drawing/2014/main" id="{4D53B68D-17ED-7EFB-F2B4-10DA7A772E1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9AB8697-C1EE-6E9A-6550-ACA2C3AE6630}"/>
              </a:ext>
            </a:extLst>
          </p:cNvPr>
          <p:cNvSpPr>
            <a:spLocks noGrp="1"/>
          </p:cNvSpPr>
          <p:nvPr>
            <p:ph type="sldNum" sz="quarter" idx="7"/>
          </p:nvPr>
        </p:nvSpPr>
        <p:spPr/>
        <p:txBody>
          <a:bodyPr/>
          <a:lstStyle/>
          <a:p>
            <a:fld id="{B6F15528-21DE-4FAA-801E-634DDDAF4B2B}" type="slidenum">
              <a:rPr lang="es-ES" noProof="0" smtClean="0"/>
              <a:t>8</a:t>
            </a:fld>
            <a:endParaRPr lang="es-ES" noProof="0" dirty="0"/>
          </a:p>
        </p:txBody>
      </p:sp>
      <p:sp>
        <p:nvSpPr>
          <p:cNvPr id="3" name="Marcador de pie de página 2">
            <a:extLst>
              <a:ext uri="{FF2B5EF4-FFF2-40B4-BE49-F238E27FC236}">
                <a16:creationId xmlns:a16="http://schemas.microsoft.com/office/drawing/2014/main" id="{970D4A6C-5B37-EDF5-6242-74B16127E96B}"/>
              </a:ext>
            </a:extLst>
          </p:cNvPr>
          <p:cNvSpPr>
            <a:spLocks noGrp="1"/>
          </p:cNvSpPr>
          <p:nvPr>
            <p:ph type="ftr" sz="quarter" idx="5"/>
          </p:nvPr>
        </p:nvSpPr>
        <p:spPr/>
        <p:txBody>
          <a:bodyPr/>
          <a:lstStyle/>
          <a:p>
            <a:pPr marL="12700">
              <a:spcBef>
                <a:spcPts val="15"/>
              </a:spcBef>
            </a:pPr>
            <a:r>
              <a:rPr lang="es-ES" spc="-5" noProof="0" dirty="0"/>
              <a:t>LAB 1.0 WAVEGUIDES</a:t>
            </a: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A440F587-93A3-E474-C0B0-883BB9DAFD85}"/>
                  </a:ext>
                </a:extLst>
              </p:cNvPr>
              <p:cNvSpPr txBox="1"/>
              <p:nvPr/>
            </p:nvSpPr>
            <p:spPr>
              <a:xfrm>
                <a:off x="609441" y="4860334"/>
                <a:ext cx="11198542" cy="924740"/>
              </a:xfrm>
              <a:prstGeom prst="rect">
                <a:avLst/>
              </a:prstGeom>
              <a:solidFill>
                <a:schemeClr val="bg1">
                  <a:lumMod val="95000"/>
                </a:schemeClr>
              </a:solidFill>
              <a:ln w="28575">
                <a:solidFill>
                  <a:srgbClr val="E0700D"/>
                </a:solidFill>
              </a:ln>
            </p:spPr>
            <p:txBody>
              <a:bodyPr wrap="square" rtlCol="0">
                <a:spAutoFit/>
              </a:bodyPr>
              <a:lstStyle/>
              <a:p>
                <a:pPr algn="just"/>
                <a:r>
                  <a:rPr lang="es-ES" sz="1200" noProof="0" dirty="0" err="1">
                    <a:latin typeface="Arial" panose="020B0604020202020204" pitchFamily="34" charset="0"/>
                    <a:cs typeface="Arial" panose="020B0604020202020204" pitchFamily="34" charset="0"/>
                  </a:rPr>
                  <a:t>Find</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the</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second-degree</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polynomial</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coefficients</a:t>
                </a:r>
                <a:r>
                  <a:rPr lang="es-ES" sz="1200" noProof="0" dirty="0">
                    <a:latin typeface="Arial" panose="020B0604020202020204" pitchFamily="34" charset="0"/>
                    <a:cs typeface="Arial" panose="020B0604020202020204" pitchFamily="34" charset="0"/>
                  </a:rPr>
                  <a:t> and relate </a:t>
                </a:r>
                <a:r>
                  <a:rPr lang="es-ES" sz="1200" noProof="0" dirty="0" err="1">
                    <a:latin typeface="Arial" panose="020B0604020202020204" pitchFamily="34" charset="0"/>
                    <a:cs typeface="Arial" panose="020B0604020202020204" pitchFamily="34" charset="0"/>
                  </a:rPr>
                  <a:t>them</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with</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the</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group</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index</a:t>
                </a:r>
                <a:r>
                  <a:rPr lang="es-ES" sz="1200" noProof="0" dirty="0">
                    <a:latin typeface="Arial" panose="020B0604020202020204" pitchFamily="34" charset="0"/>
                    <a:cs typeface="Arial" panose="020B0604020202020204" pitchFamily="34" charset="0"/>
                  </a:rPr>
                  <a:t> and </a:t>
                </a:r>
                <a:r>
                  <a:rPr lang="es-ES" sz="1200" noProof="0" dirty="0" err="1">
                    <a:latin typeface="Arial" panose="020B0604020202020204" pitchFamily="34" charset="0"/>
                    <a:cs typeface="Arial" panose="020B0604020202020204" pitchFamily="34" charset="0"/>
                  </a:rPr>
                  <a:t>the</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dispersion</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parameter</a:t>
                </a:r>
                <a:r>
                  <a:rPr lang="es-ES" sz="1200" noProof="0" dirty="0">
                    <a:latin typeface="Arial" panose="020B0604020202020204" pitchFamily="34" charset="0"/>
                    <a:cs typeface="Arial" panose="020B0604020202020204" pitchFamily="34" charset="0"/>
                  </a:rPr>
                  <a:t>. </a:t>
                </a:r>
                <a14:m>
                  <m:oMath xmlns:m="http://schemas.openxmlformats.org/officeDocument/2006/math">
                    <m:d>
                      <m:dPr>
                        <m:begChr m:val="{"/>
                        <m:endChr m:val=""/>
                        <m:ctrlPr>
                          <a:rPr lang="es-ES" sz="1200" b="0" i="1" noProof="0" smtClean="0">
                            <a:latin typeface="Cambria Math" panose="02040503050406030204" pitchFamily="18" charset="0"/>
                            <a:cs typeface="Arial" panose="020B0604020202020204" pitchFamily="34" charset="0"/>
                          </a:rPr>
                        </m:ctrlPr>
                      </m:dPr>
                      <m:e>
                        <m:eqArr>
                          <m:eqArrPr>
                            <m:ctrlPr>
                              <a:rPr lang="es-ES" sz="1200" b="0" i="1" noProof="0" smtClean="0">
                                <a:latin typeface="Cambria Math" panose="02040503050406030204" pitchFamily="18" charset="0"/>
                                <a:cs typeface="Arial" panose="020B0604020202020204" pitchFamily="34" charset="0"/>
                              </a:rPr>
                            </m:ctrlPr>
                          </m:eqArrPr>
                          <m:e>
                            <m:sSub>
                              <m:sSubPr>
                                <m:ctrlPr>
                                  <a:rPr lang="es-ES" sz="1200" b="0" i="1" noProof="0" smtClean="0">
                                    <a:latin typeface="Cambria Math" panose="02040503050406030204" pitchFamily="18" charset="0"/>
                                    <a:cs typeface="Arial" panose="020B0604020202020204" pitchFamily="34" charset="0"/>
                                  </a:rPr>
                                </m:ctrlPr>
                              </m:sSubPr>
                              <m:e>
                                <m:r>
                                  <a:rPr lang="es-ES" sz="1200" b="0" i="1" noProof="0" smtClean="0">
                                    <a:latin typeface="Cambria Math" panose="02040503050406030204" pitchFamily="18" charset="0"/>
                                    <a:cs typeface="Arial" panose="020B0604020202020204" pitchFamily="34" charset="0"/>
                                  </a:rPr>
                                  <m:t>𝑛</m:t>
                                </m:r>
                              </m:e>
                              <m:sub>
                                <m:r>
                                  <a:rPr lang="es-ES" sz="1200" b="0" i="1" noProof="0" smtClean="0">
                                    <a:latin typeface="Cambria Math" panose="02040503050406030204" pitchFamily="18" charset="0"/>
                                    <a:cs typeface="Arial" panose="020B0604020202020204" pitchFamily="34" charset="0"/>
                                  </a:rPr>
                                  <m:t>𝑒𝑓𝑓</m:t>
                                </m:r>
                              </m:sub>
                            </m:sSub>
                            <m:r>
                              <a:rPr lang="es-ES" sz="1200" b="0" i="1" noProof="0" smtClean="0">
                                <a:latin typeface="Cambria Math" panose="02040503050406030204" pitchFamily="18" charset="0"/>
                                <a:cs typeface="Arial" panose="020B0604020202020204" pitchFamily="34" charset="0"/>
                              </a:rPr>
                              <m:t>=</m:t>
                            </m:r>
                            <m:sSub>
                              <m:sSubPr>
                                <m:ctrlPr>
                                  <a:rPr lang="es-ES" sz="1200" b="0" i="1" noProof="0" smtClean="0">
                                    <a:latin typeface="Cambria Math" panose="02040503050406030204" pitchFamily="18" charset="0"/>
                                    <a:cs typeface="Arial" panose="020B0604020202020204" pitchFamily="34" charset="0"/>
                                  </a:rPr>
                                </m:ctrlPr>
                              </m:sSubPr>
                              <m:e>
                                <m:r>
                                  <a:rPr lang="es-ES" sz="1200" b="0" i="1" noProof="0" smtClean="0">
                                    <a:latin typeface="Cambria Math" panose="02040503050406030204" pitchFamily="18" charset="0"/>
                                    <a:cs typeface="Arial" panose="020B0604020202020204" pitchFamily="34" charset="0"/>
                                  </a:rPr>
                                  <m:t>𝑛</m:t>
                                </m:r>
                              </m:e>
                              <m:sub>
                                <m:r>
                                  <a:rPr lang="es-ES" sz="1200" b="0" i="1" noProof="0" smtClean="0">
                                    <a:latin typeface="Cambria Math" panose="02040503050406030204" pitchFamily="18" charset="0"/>
                                    <a:cs typeface="Arial" panose="020B0604020202020204" pitchFamily="34" charset="0"/>
                                  </a:rPr>
                                  <m:t>1</m:t>
                                </m:r>
                              </m:sub>
                            </m:sSub>
                          </m:e>
                          <m:e>
                            <m:sSub>
                              <m:sSubPr>
                                <m:ctrlPr>
                                  <a:rPr lang="es-ES" sz="1200" b="0" i="1" noProof="0" smtClean="0">
                                    <a:latin typeface="Cambria Math" panose="02040503050406030204" pitchFamily="18" charset="0"/>
                                    <a:cs typeface="Arial" panose="020B0604020202020204" pitchFamily="34" charset="0"/>
                                  </a:rPr>
                                </m:ctrlPr>
                              </m:sSubPr>
                              <m:e>
                                <m:r>
                                  <a:rPr lang="es-ES" sz="1200" b="0" i="1" noProof="0" smtClean="0">
                                    <a:latin typeface="Cambria Math" panose="02040503050406030204" pitchFamily="18" charset="0"/>
                                    <a:cs typeface="Arial" panose="020B0604020202020204" pitchFamily="34" charset="0"/>
                                  </a:rPr>
                                  <m:t>𝑛</m:t>
                                </m:r>
                              </m:e>
                              <m:sub>
                                <m:r>
                                  <a:rPr lang="es-ES" sz="1200" b="0" i="1" noProof="0" smtClean="0">
                                    <a:latin typeface="Cambria Math" panose="02040503050406030204" pitchFamily="18" charset="0"/>
                                    <a:cs typeface="Arial" panose="020B0604020202020204" pitchFamily="34" charset="0"/>
                                  </a:rPr>
                                  <m:t>𝑔</m:t>
                                </m:r>
                              </m:sub>
                            </m:sSub>
                            <m:r>
                              <a:rPr lang="es-ES" sz="1200" b="0" i="1" noProof="0" smtClean="0">
                                <a:latin typeface="Cambria Math" panose="02040503050406030204" pitchFamily="18" charset="0"/>
                                <a:cs typeface="Arial" panose="020B0604020202020204" pitchFamily="34" charset="0"/>
                              </a:rPr>
                              <m:t>=</m:t>
                            </m:r>
                            <m:sSub>
                              <m:sSubPr>
                                <m:ctrlPr>
                                  <a:rPr lang="es-ES" sz="1200" b="0" i="1" noProof="0" smtClean="0">
                                    <a:latin typeface="Cambria Math" panose="02040503050406030204" pitchFamily="18" charset="0"/>
                                    <a:cs typeface="Arial" panose="020B0604020202020204" pitchFamily="34" charset="0"/>
                                  </a:rPr>
                                </m:ctrlPr>
                              </m:sSubPr>
                              <m:e>
                                <m:r>
                                  <a:rPr lang="es-ES" sz="1200" b="0" i="1" noProof="0" smtClean="0">
                                    <a:latin typeface="Cambria Math" panose="02040503050406030204" pitchFamily="18" charset="0"/>
                                    <a:cs typeface="Arial" panose="020B0604020202020204" pitchFamily="34" charset="0"/>
                                  </a:rPr>
                                  <m:t>𝑛</m:t>
                                </m:r>
                              </m:e>
                              <m:sub>
                                <m:r>
                                  <a:rPr lang="es-ES" sz="1200" b="0" i="1" noProof="0" smtClean="0">
                                    <a:latin typeface="Cambria Math" panose="02040503050406030204" pitchFamily="18" charset="0"/>
                                    <a:cs typeface="Arial" panose="020B0604020202020204" pitchFamily="34" charset="0"/>
                                  </a:rPr>
                                  <m:t>1</m:t>
                                </m:r>
                              </m:sub>
                            </m:sSub>
                            <m:r>
                              <a:rPr lang="es-ES" sz="1200" b="0" i="1" noProof="0" smtClean="0">
                                <a:latin typeface="Cambria Math" panose="02040503050406030204" pitchFamily="18" charset="0"/>
                                <a:cs typeface="Arial" panose="020B0604020202020204" pitchFamily="34" charset="0"/>
                              </a:rPr>
                              <m:t>−</m:t>
                            </m:r>
                            <m:sSub>
                              <m:sSubPr>
                                <m:ctrlPr>
                                  <a:rPr lang="es-ES" sz="1200" b="0" i="1" noProof="0" smtClean="0">
                                    <a:latin typeface="Cambria Math" panose="02040503050406030204" pitchFamily="18" charset="0"/>
                                    <a:cs typeface="Arial" panose="020B0604020202020204" pitchFamily="34" charset="0"/>
                                  </a:rPr>
                                </m:ctrlPr>
                              </m:sSubPr>
                              <m:e>
                                <m:r>
                                  <a:rPr lang="es-ES" sz="1200" b="0" i="1" noProof="0" smtClean="0">
                                    <a:latin typeface="Cambria Math" panose="02040503050406030204" pitchFamily="18" charset="0"/>
                                    <a:cs typeface="Arial" panose="020B0604020202020204" pitchFamily="34" charset="0"/>
                                  </a:rPr>
                                  <m:t>𝑛</m:t>
                                </m:r>
                              </m:e>
                              <m:sub>
                                <m:r>
                                  <a:rPr lang="es-ES" sz="1200" b="0" i="1" noProof="0" smtClean="0">
                                    <a:latin typeface="Cambria Math" panose="02040503050406030204" pitchFamily="18" charset="0"/>
                                    <a:cs typeface="Arial" panose="020B0604020202020204" pitchFamily="34" charset="0"/>
                                  </a:rPr>
                                  <m:t>2</m:t>
                                </m:r>
                              </m:sub>
                            </m:sSub>
                            <m:sSub>
                              <m:sSubPr>
                                <m:ctrlPr>
                                  <a:rPr lang="es-ES" sz="1200" b="0" i="1" noProof="0" smtClean="0">
                                    <a:latin typeface="Cambria Math" panose="02040503050406030204" pitchFamily="18" charset="0"/>
                                    <a:cs typeface="Arial" panose="020B0604020202020204" pitchFamily="34" charset="0"/>
                                  </a:rPr>
                                </m:ctrlPr>
                              </m:sSubPr>
                              <m:e>
                                <m:r>
                                  <a:rPr lang="es-ES" sz="1200" b="0" i="1" noProof="0" smtClean="0">
                                    <a:latin typeface="Cambria Math" panose="02040503050406030204" pitchFamily="18" charset="0"/>
                                    <a:cs typeface="Arial" panose="020B0604020202020204" pitchFamily="34" charset="0"/>
                                  </a:rPr>
                                  <m:t>𝜆</m:t>
                                </m:r>
                              </m:e>
                              <m:sub>
                                <m:r>
                                  <a:rPr lang="es-ES" sz="1200" b="0" i="1" noProof="0" smtClean="0">
                                    <a:latin typeface="Cambria Math" panose="02040503050406030204" pitchFamily="18" charset="0"/>
                                    <a:cs typeface="Arial" panose="020B0604020202020204" pitchFamily="34" charset="0"/>
                                  </a:rPr>
                                  <m:t>0</m:t>
                                </m:r>
                              </m:sub>
                            </m:sSub>
                          </m:e>
                          <m:e>
                            <m:r>
                              <a:rPr lang="es-ES" sz="1200" b="0" i="1" noProof="0" smtClean="0">
                                <a:latin typeface="Cambria Math" panose="02040503050406030204" pitchFamily="18" charset="0"/>
                                <a:cs typeface="Arial" panose="020B0604020202020204" pitchFamily="34" charset="0"/>
                              </a:rPr>
                              <m:t>𝐷</m:t>
                            </m:r>
                            <m:r>
                              <a:rPr lang="es-ES" sz="1200" b="0" i="1" noProof="0" smtClean="0">
                                <a:latin typeface="Cambria Math" panose="02040503050406030204" pitchFamily="18" charset="0"/>
                                <a:cs typeface="Arial" panose="020B0604020202020204" pitchFamily="34" charset="0"/>
                              </a:rPr>
                              <m:t>=−</m:t>
                            </m:r>
                            <m:f>
                              <m:fPr>
                                <m:ctrlPr>
                                  <a:rPr lang="es-ES" sz="1200" b="0" i="1" noProof="0" smtClean="0">
                                    <a:latin typeface="Cambria Math" panose="02040503050406030204" pitchFamily="18" charset="0"/>
                                    <a:cs typeface="Arial" panose="020B0604020202020204" pitchFamily="34" charset="0"/>
                                  </a:rPr>
                                </m:ctrlPr>
                              </m:fPr>
                              <m:num>
                                <m:r>
                                  <a:rPr lang="es-ES" sz="1200" b="0" i="1" noProof="0" smtClean="0">
                                    <a:latin typeface="Cambria Math" panose="02040503050406030204" pitchFamily="18" charset="0"/>
                                    <a:cs typeface="Arial" panose="020B0604020202020204" pitchFamily="34" charset="0"/>
                                  </a:rPr>
                                  <m:t>2</m:t>
                                </m:r>
                                <m:sSub>
                                  <m:sSubPr>
                                    <m:ctrlPr>
                                      <a:rPr lang="es-ES" sz="1200" b="0" i="1" noProof="0" smtClean="0">
                                        <a:latin typeface="Cambria Math" panose="02040503050406030204" pitchFamily="18" charset="0"/>
                                        <a:cs typeface="Arial" panose="020B0604020202020204" pitchFamily="34" charset="0"/>
                                      </a:rPr>
                                    </m:ctrlPr>
                                  </m:sSubPr>
                                  <m:e>
                                    <m:r>
                                      <a:rPr lang="es-ES" sz="1200" b="0" i="1" noProof="0" smtClean="0">
                                        <a:latin typeface="Cambria Math" panose="02040503050406030204" pitchFamily="18" charset="0"/>
                                        <a:cs typeface="Arial" panose="020B0604020202020204" pitchFamily="34" charset="0"/>
                                      </a:rPr>
                                      <m:t>𝜆</m:t>
                                    </m:r>
                                  </m:e>
                                  <m:sub>
                                    <m:r>
                                      <a:rPr lang="es-ES" sz="1200" b="0" i="1" noProof="0" smtClean="0">
                                        <a:latin typeface="Cambria Math" panose="02040503050406030204" pitchFamily="18" charset="0"/>
                                        <a:cs typeface="Arial" panose="020B0604020202020204" pitchFamily="34" charset="0"/>
                                      </a:rPr>
                                      <m:t>0</m:t>
                                    </m:r>
                                  </m:sub>
                                </m:sSub>
                                <m:sSub>
                                  <m:sSubPr>
                                    <m:ctrlPr>
                                      <a:rPr lang="es-ES" sz="1200" b="0" i="1" noProof="0" smtClean="0">
                                        <a:latin typeface="Cambria Math" panose="02040503050406030204" pitchFamily="18" charset="0"/>
                                        <a:cs typeface="Arial" panose="020B0604020202020204" pitchFamily="34" charset="0"/>
                                      </a:rPr>
                                    </m:ctrlPr>
                                  </m:sSubPr>
                                  <m:e>
                                    <m:r>
                                      <a:rPr lang="es-ES" sz="1200" b="0" i="1" noProof="0" smtClean="0">
                                        <a:latin typeface="Cambria Math" panose="02040503050406030204" pitchFamily="18" charset="0"/>
                                        <a:cs typeface="Arial" panose="020B0604020202020204" pitchFamily="34" charset="0"/>
                                      </a:rPr>
                                      <m:t>𝑛</m:t>
                                    </m:r>
                                  </m:e>
                                  <m:sub>
                                    <m:r>
                                      <a:rPr lang="es-ES" sz="1200" b="0" i="1" noProof="0" smtClean="0">
                                        <a:latin typeface="Cambria Math" panose="02040503050406030204" pitchFamily="18" charset="0"/>
                                        <a:cs typeface="Arial" panose="020B0604020202020204" pitchFamily="34" charset="0"/>
                                      </a:rPr>
                                      <m:t>3</m:t>
                                    </m:r>
                                  </m:sub>
                                </m:sSub>
                              </m:num>
                              <m:den>
                                <m:r>
                                  <a:rPr lang="es-ES" sz="1200" b="0" i="1" noProof="0" smtClean="0">
                                    <a:latin typeface="Cambria Math" panose="02040503050406030204" pitchFamily="18" charset="0"/>
                                    <a:cs typeface="Arial" panose="020B0604020202020204" pitchFamily="34" charset="0"/>
                                  </a:rPr>
                                  <m:t>𝑐</m:t>
                                </m:r>
                              </m:den>
                            </m:f>
                            <m:d>
                              <m:dPr>
                                <m:begChr m:val="["/>
                                <m:endChr m:val="]"/>
                                <m:ctrlPr>
                                  <a:rPr lang="es-ES" sz="1200" b="0" i="1" noProof="0" smtClean="0">
                                    <a:latin typeface="Cambria Math" panose="02040503050406030204" pitchFamily="18" charset="0"/>
                                    <a:cs typeface="Arial" panose="020B0604020202020204" pitchFamily="34" charset="0"/>
                                  </a:rPr>
                                </m:ctrlPr>
                              </m:dPr>
                              <m:e>
                                <m:f>
                                  <m:fPr>
                                    <m:ctrlPr>
                                      <a:rPr lang="es-ES" sz="1200" b="0" i="1" noProof="0" smtClean="0">
                                        <a:latin typeface="Cambria Math" panose="02040503050406030204" pitchFamily="18" charset="0"/>
                                        <a:cs typeface="Arial" panose="020B0604020202020204" pitchFamily="34" charset="0"/>
                                      </a:rPr>
                                    </m:ctrlPr>
                                  </m:fPr>
                                  <m:num>
                                    <m:sSup>
                                      <m:sSupPr>
                                        <m:ctrlPr>
                                          <a:rPr lang="es-ES" sz="1200" b="0" i="1" noProof="0" smtClean="0">
                                            <a:latin typeface="Cambria Math" panose="02040503050406030204" pitchFamily="18" charset="0"/>
                                            <a:cs typeface="Arial" panose="020B0604020202020204" pitchFamily="34" charset="0"/>
                                          </a:rPr>
                                        </m:ctrlPr>
                                      </m:sSupPr>
                                      <m:e>
                                        <m:r>
                                          <a:rPr lang="es-ES" sz="1200" b="0" i="1" noProof="0" smtClean="0">
                                            <a:latin typeface="Cambria Math" panose="02040503050406030204" pitchFamily="18" charset="0"/>
                                            <a:cs typeface="Arial" panose="020B0604020202020204" pitchFamily="34" charset="0"/>
                                          </a:rPr>
                                          <m:t>𝑠</m:t>
                                        </m:r>
                                      </m:e>
                                      <m:sup>
                                        <m:r>
                                          <a:rPr lang="es-ES" sz="1200" b="0" i="1" noProof="0" smtClean="0">
                                            <a:latin typeface="Cambria Math" panose="02040503050406030204" pitchFamily="18" charset="0"/>
                                            <a:cs typeface="Arial" panose="020B0604020202020204" pitchFamily="34" charset="0"/>
                                          </a:rPr>
                                          <m:t>2</m:t>
                                        </m:r>
                                      </m:sup>
                                    </m:sSup>
                                  </m:num>
                                  <m:den>
                                    <m:r>
                                      <a:rPr lang="es-ES" sz="1200" b="0" i="1" noProof="0" smtClean="0">
                                        <a:latin typeface="Cambria Math" panose="02040503050406030204" pitchFamily="18" charset="0"/>
                                        <a:cs typeface="Arial" panose="020B0604020202020204" pitchFamily="34" charset="0"/>
                                      </a:rPr>
                                      <m:t>𝑚</m:t>
                                    </m:r>
                                  </m:den>
                                </m:f>
                              </m:e>
                            </m:d>
                          </m:e>
                        </m:eqArr>
                      </m:e>
                    </m:d>
                  </m:oMath>
                </a14:m>
                <a:endParaRPr lang="es-ES" sz="1200" b="0" noProof="0" dirty="0">
                  <a:latin typeface="Arial" panose="020B0604020202020204" pitchFamily="34" charset="0"/>
                  <a:cs typeface="Arial" panose="020B0604020202020204" pitchFamily="34" charset="0"/>
                </a:endParaRPr>
              </a:p>
            </p:txBody>
          </p:sp>
        </mc:Choice>
        <mc:Fallback xmlns="">
          <p:sp>
            <p:nvSpPr>
              <p:cNvPr id="2" name="CuadroTexto 1">
                <a:extLst>
                  <a:ext uri="{FF2B5EF4-FFF2-40B4-BE49-F238E27FC236}">
                    <a16:creationId xmlns:a16="http://schemas.microsoft.com/office/drawing/2014/main" id="{A440F587-93A3-E474-C0B0-883BB9DAFD85}"/>
                  </a:ext>
                </a:extLst>
              </p:cNvPr>
              <p:cNvSpPr txBox="1">
                <a:spLocks noRot="1" noChangeAspect="1" noMove="1" noResize="1" noEditPoints="1" noAdjustHandles="1" noChangeArrowheads="1" noChangeShapeType="1" noTextEdit="1"/>
              </p:cNvSpPr>
              <p:nvPr/>
            </p:nvSpPr>
            <p:spPr>
              <a:xfrm>
                <a:off x="609441" y="4860334"/>
                <a:ext cx="11198542" cy="924740"/>
              </a:xfrm>
              <a:prstGeom prst="rect">
                <a:avLst/>
              </a:prstGeom>
              <a:blipFill>
                <a:blip r:embed="rId5"/>
                <a:stretch>
                  <a:fillRect/>
                </a:stretch>
              </a:blipFill>
              <a:ln w="28575">
                <a:solidFill>
                  <a:srgbClr val="E0700D"/>
                </a:solidFill>
              </a:ln>
            </p:spPr>
            <p:txBody>
              <a:bodyPr/>
              <a:lstStyle/>
              <a:p>
                <a:r>
                  <a:rPr lang="es-ES">
                    <a:noFill/>
                  </a:rPr>
                  <a:t> </a:t>
                </a:r>
              </a:p>
            </p:txBody>
          </p:sp>
        </mc:Fallback>
      </mc:AlternateContent>
      <p:sp>
        <p:nvSpPr>
          <p:cNvPr id="5" name="Rectángulo 4">
            <a:extLst>
              <a:ext uri="{FF2B5EF4-FFF2-40B4-BE49-F238E27FC236}">
                <a16:creationId xmlns:a16="http://schemas.microsoft.com/office/drawing/2014/main" id="{A6B92C76-6772-2E00-346F-532321092C0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sp>
        <p:nvSpPr>
          <p:cNvPr id="6" name="Rectángulo 5">
            <a:extLst>
              <a:ext uri="{FF2B5EF4-FFF2-40B4-BE49-F238E27FC236}">
                <a16:creationId xmlns:a16="http://schemas.microsoft.com/office/drawing/2014/main" id="{2886628E-6E58-1F7E-B6C6-432B9A22839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u="sng" noProof="0" dirty="0"/>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59B6428-4395-242F-54D8-A9FC610F2D7A}"/>
                  </a:ext>
                </a:extLst>
              </p:cNvPr>
              <p:cNvSpPr txBox="1"/>
              <p:nvPr/>
            </p:nvSpPr>
            <p:spPr>
              <a:xfrm>
                <a:off x="583503" y="2500649"/>
                <a:ext cx="5486559" cy="1200329"/>
              </a:xfrm>
              <a:prstGeom prst="rect">
                <a:avLst/>
              </a:prstGeom>
              <a:noFill/>
            </p:spPr>
            <p:txBody>
              <a:bodyPr wrap="square" rtlCol="0">
                <a:spAutoFit/>
              </a:bodyPr>
              <a:lstStyle/>
              <a:p>
                <a:pPr algn="ctr"/>
                <a:r>
                  <a:rPr lang="es-ES" b="1" noProof="0" dirty="0" err="1"/>
                  <a:t>deep</a:t>
                </a:r>
                <a:r>
                  <a:rPr lang="es-ES" noProof="0" dirty="0"/>
                  <a:t> </a:t>
                </a:r>
                <a:r>
                  <a:rPr lang="es-ES" noProof="0" dirty="0" err="1"/>
                  <a:t>waveguide</a:t>
                </a:r>
                <a:endParaRPr lang="es-ES" noProof="0" dirty="0"/>
              </a:p>
              <a:p>
                <a:pPr algn="ctr"/>
                <a:endParaRPr lang="es-ES" noProof="0" dirty="0"/>
              </a:p>
              <a:p>
                <a:pPr algn="ctr"/>
                <a:r>
                  <a:rPr lang="es-ES" b="1" noProof="0" dirty="0"/>
                  <a:t>neff_TE0 vs </a:t>
                </a:r>
                <a14:m>
                  <m:oMath xmlns:m="http://schemas.openxmlformats.org/officeDocument/2006/math">
                    <m:r>
                      <a:rPr lang="es-ES" b="1" i="1" noProof="0" smtClean="0">
                        <a:latin typeface="Cambria Math" panose="02040503050406030204" pitchFamily="18" charset="0"/>
                      </a:rPr>
                      <m:t>𝝀</m:t>
                    </m:r>
                  </m:oMath>
                </a14:m>
                <a:r>
                  <a:rPr lang="es-ES" b="1" noProof="0" dirty="0"/>
                  <a:t> </a:t>
                </a:r>
                <a:r>
                  <a:rPr lang="es-ES" noProof="0" dirty="0" err="1"/>
                  <a:t>with</a:t>
                </a:r>
                <a:r>
                  <a:rPr lang="es-ES" noProof="0" dirty="0"/>
                  <a:t> </a:t>
                </a:r>
                <a:r>
                  <a:rPr lang="es-ES" noProof="0" dirty="0" err="1"/>
                  <a:t>the</a:t>
                </a:r>
                <a:r>
                  <a:rPr lang="es-ES" noProof="0" dirty="0"/>
                  <a:t> </a:t>
                </a:r>
                <a:r>
                  <a:rPr lang="es-ES" noProof="0" dirty="0" err="1"/>
                  <a:t>second-degree</a:t>
                </a:r>
                <a:r>
                  <a:rPr lang="es-ES" noProof="0" dirty="0"/>
                  <a:t> </a:t>
                </a:r>
                <a:r>
                  <a:rPr lang="es-ES" noProof="0" dirty="0" err="1"/>
                  <a:t>polynomial</a:t>
                </a:r>
                <a:r>
                  <a:rPr lang="es-ES" noProof="0" dirty="0"/>
                  <a:t> </a:t>
                </a:r>
                <a:r>
                  <a:rPr lang="es-ES" noProof="0" dirty="0" err="1"/>
                  <a:t>fit</a:t>
                </a:r>
                <a:r>
                  <a:rPr lang="es-ES" noProof="0" dirty="0"/>
                  <a:t>  </a:t>
                </a:r>
              </a:p>
              <a:p>
                <a:pPr algn="ctr"/>
                <a:r>
                  <a:rPr lang="es-ES" noProof="0" dirty="0"/>
                  <a:t>&amp; </a:t>
                </a:r>
                <a:r>
                  <a:rPr lang="es-ES" b="1" noProof="0" dirty="0"/>
                  <a:t>neff_TM0 vs </a:t>
                </a:r>
                <a14:m>
                  <m:oMath xmlns:m="http://schemas.openxmlformats.org/officeDocument/2006/math">
                    <m:r>
                      <a:rPr lang="es-ES" b="1" i="1" noProof="0">
                        <a:latin typeface="Cambria Math" panose="02040503050406030204" pitchFamily="18" charset="0"/>
                      </a:rPr>
                      <m:t>𝝀</m:t>
                    </m:r>
                  </m:oMath>
                </a14:m>
                <a:r>
                  <a:rPr lang="es-ES" b="1" noProof="0" dirty="0"/>
                  <a:t> </a:t>
                </a:r>
                <a:r>
                  <a:rPr lang="es-ES" noProof="0" dirty="0" err="1"/>
                  <a:t>with</a:t>
                </a:r>
                <a:r>
                  <a:rPr lang="es-ES" noProof="0" dirty="0"/>
                  <a:t> </a:t>
                </a:r>
                <a:r>
                  <a:rPr lang="es-ES" noProof="0" dirty="0" err="1"/>
                  <a:t>the</a:t>
                </a:r>
                <a:r>
                  <a:rPr lang="es-ES" noProof="0" dirty="0"/>
                  <a:t> </a:t>
                </a:r>
                <a:r>
                  <a:rPr lang="es-ES" noProof="0" dirty="0" err="1"/>
                  <a:t>second-degree</a:t>
                </a:r>
                <a:r>
                  <a:rPr lang="es-ES" noProof="0" dirty="0"/>
                  <a:t> </a:t>
                </a:r>
                <a:r>
                  <a:rPr lang="es-ES" noProof="0" dirty="0" err="1"/>
                  <a:t>polynomial</a:t>
                </a:r>
                <a:r>
                  <a:rPr lang="es-ES" noProof="0" dirty="0"/>
                  <a:t> </a:t>
                </a:r>
                <a:r>
                  <a:rPr lang="es-ES" noProof="0" dirty="0" err="1"/>
                  <a:t>fit</a:t>
                </a:r>
                <a:r>
                  <a:rPr lang="es-ES" noProof="0" dirty="0"/>
                  <a:t> </a:t>
                </a:r>
              </a:p>
            </p:txBody>
          </p:sp>
        </mc:Choice>
        <mc:Fallback xmlns="">
          <p:sp>
            <p:nvSpPr>
              <p:cNvPr id="9" name="CuadroTexto 8">
                <a:extLst>
                  <a:ext uri="{FF2B5EF4-FFF2-40B4-BE49-F238E27FC236}">
                    <a16:creationId xmlns:a16="http://schemas.microsoft.com/office/drawing/2014/main" id="{C59B6428-4395-242F-54D8-A9FC610F2D7A}"/>
                  </a:ext>
                </a:extLst>
              </p:cNvPr>
              <p:cNvSpPr txBox="1">
                <a:spLocks noRot="1" noChangeAspect="1" noMove="1" noResize="1" noEditPoints="1" noAdjustHandles="1" noChangeArrowheads="1" noChangeShapeType="1" noTextEdit="1"/>
              </p:cNvSpPr>
              <p:nvPr/>
            </p:nvSpPr>
            <p:spPr>
              <a:xfrm>
                <a:off x="583503" y="2500649"/>
                <a:ext cx="5486559" cy="1200329"/>
              </a:xfrm>
              <a:prstGeom prst="rect">
                <a:avLst/>
              </a:prstGeom>
              <a:blipFill>
                <a:blip r:embed="rId6"/>
                <a:stretch>
                  <a:fillRect t="-2538" b="-7107"/>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9320AF78-1FC6-19F4-8E0B-8A414F20C6DE}"/>
                  </a:ext>
                </a:extLst>
              </p:cNvPr>
              <p:cNvSpPr txBox="1"/>
              <p:nvPr/>
            </p:nvSpPr>
            <p:spPr>
              <a:xfrm>
                <a:off x="6321421" y="2709096"/>
                <a:ext cx="5486559" cy="1200329"/>
              </a:xfrm>
              <a:prstGeom prst="rect">
                <a:avLst/>
              </a:prstGeom>
              <a:noFill/>
            </p:spPr>
            <p:txBody>
              <a:bodyPr wrap="square" rtlCol="0">
                <a:spAutoFit/>
              </a:bodyPr>
              <a:lstStyle/>
              <a:p>
                <a:pPr algn="ctr"/>
                <a:r>
                  <a:rPr lang="es-ES" b="1" noProof="0" dirty="0" err="1"/>
                  <a:t>shallow</a:t>
                </a:r>
                <a:r>
                  <a:rPr lang="es-ES" noProof="0" dirty="0"/>
                  <a:t> </a:t>
                </a:r>
                <a:r>
                  <a:rPr lang="es-ES" noProof="0" dirty="0" err="1"/>
                  <a:t>waveguide</a:t>
                </a:r>
                <a:endParaRPr lang="es-ES" noProof="0" dirty="0"/>
              </a:p>
              <a:p>
                <a:pPr algn="ctr"/>
                <a:endParaRPr lang="es-ES" noProof="0" dirty="0"/>
              </a:p>
              <a:p>
                <a:pPr algn="ctr"/>
                <a:r>
                  <a:rPr lang="es-ES" b="1" noProof="0" dirty="0"/>
                  <a:t>neff_TE0 vs </a:t>
                </a:r>
                <a14:m>
                  <m:oMath xmlns:m="http://schemas.openxmlformats.org/officeDocument/2006/math">
                    <m:r>
                      <a:rPr lang="es-ES" b="1" i="1" noProof="0">
                        <a:latin typeface="Cambria Math" panose="02040503050406030204" pitchFamily="18" charset="0"/>
                      </a:rPr>
                      <m:t>𝝀</m:t>
                    </m:r>
                  </m:oMath>
                </a14:m>
                <a:r>
                  <a:rPr lang="es-ES" b="1" noProof="0" dirty="0"/>
                  <a:t> </a:t>
                </a:r>
                <a:r>
                  <a:rPr lang="es-ES" noProof="0" dirty="0" err="1"/>
                  <a:t>with</a:t>
                </a:r>
                <a:r>
                  <a:rPr lang="es-ES" noProof="0" dirty="0"/>
                  <a:t> </a:t>
                </a:r>
                <a:r>
                  <a:rPr lang="es-ES" noProof="0" dirty="0" err="1"/>
                  <a:t>the</a:t>
                </a:r>
                <a:r>
                  <a:rPr lang="es-ES" noProof="0" dirty="0"/>
                  <a:t> </a:t>
                </a:r>
                <a:r>
                  <a:rPr lang="es-ES" noProof="0" dirty="0" err="1"/>
                  <a:t>second-degree</a:t>
                </a:r>
                <a:r>
                  <a:rPr lang="es-ES" noProof="0" dirty="0"/>
                  <a:t> </a:t>
                </a:r>
                <a:r>
                  <a:rPr lang="es-ES" noProof="0" dirty="0" err="1"/>
                  <a:t>polynomial</a:t>
                </a:r>
                <a:r>
                  <a:rPr lang="es-ES" noProof="0" dirty="0"/>
                  <a:t> </a:t>
                </a:r>
                <a:r>
                  <a:rPr lang="es-ES" noProof="0" dirty="0" err="1"/>
                  <a:t>fit</a:t>
                </a:r>
                <a:r>
                  <a:rPr lang="es-ES" noProof="0" dirty="0"/>
                  <a:t>  </a:t>
                </a:r>
              </a:p>
              <a:p>
                <a:pPr algn="ctr"/>
                <a:r>
                  <a:rPr lang="es-ES" noProof="0" dirty="0"/>
                  <a:t>&amp; </a:t>
                </a:r>
                <a:r>
                  <a:rPr lang="es-ES" b="1" noProof="0" dirty="0"/>
                  <a:t>neff_TM0 vs </a:t>
                </a:r>
                <a14:m>
                  <m:oMath xmlns:m="http://schemas.openxmlformats.org/officeDocument/2006/math">
                    <m:r>
                      <a:rPr lang="es-ES" b="1" i="1" noProof="0">
                        <a:latin typeface="Cambria Math" panose="02040503050406030204" pitchFamily="18" charset="0"/>
                      </a:rPr>
                      <m:t>𝝀</m:t>
                    </m:r>
                  </m:oMath>
                </a14:m>
                <a:r>
                  <a:rPr lang="es-ES" b="1" noProof="0" dirty="0"/>
                  <a:t> </a:t>
                </a:r>
                <a:r>
                  <a:rPr lang="es-ES" noProof="0" dirty="0" err="1"/>
                  <a:t>with</a:t>
                </a:r>
                <a:r>
                  <a:rPr lang="es-ES" noProof="0" dirty="0"/>
                  <a:t> </a:t>
                </a:r>
                <a:r>
                  <a:rPr lang="es-ES" noProof="0" dirty="0" err="1"/>
                  <a:t>the</a:t>
                </a:r>
                <a:r>
                  <a:rPr lang="es-ES" noProof="0" dirty="0"/>
                  <a:t> </a:t>
                </a:r>
                <a:r>
                  <a:rPr lang="es-ES" noProof="0" dirty="0" err="1"/>
                  <a:t>second-degree</a:t>
                </a:r>
                <a:r>
                  <a:rPr lang="es-ES" noProof="0" dirty="0"/>
                  <a:t> </a:t>
                </a:r>
                <a:r>
                  <a:rPr lang="es-ES" noProof="0" dirty="0" err="1"/>
                  <a:t>polynomial</a:t>
                </a:r>
                <a:r>
                  <a:rPr lang="es-ES" noProof="0" dirty="0"/>
                  <a:t> </a:t>
                </a:r>
                <a:r>
                  <a:rPr lang="es-ES" noProof="0" dirty="0" err="1"/>
                  <a:t>fit</a:t>
                </a:r>
                <a:r>
                  <a:rPr lang="es-ES" noProof="0" dirty="0"/>
                  <a:t> </a:t>
                </a:r>
              </a:p>
            </p:txBody>
          </p:sp>
        </mc:Choice>
        <mc:Fallback xmlns="">
          <p:sp>
            <p:nvSpPr>
              <p:cNvPr id="10" name="CuadroTexto 9">
                <a:extLst>
                  <a:ext uri="{FF2B5EF4-FFF2-40B4-BE49-F238E27FC236}">
                    <a16:creationId xmlns:a16="http://schemas.microsoft.com/office/drawing/2014/main" id="{9320AF78-1FC6-19F4-8E0B-8A414F20C6DE}"/>
                  </a:ext>
                </a:extLst>
              </p:cNvPr>
              <p:cNvSpPr txBox="1">
                <a:spLocks noRot="1" noChangeAspect="1" noMove="1" noResize="1" noEditPoints="1" noAdjustHandles="1" noChangeArrowheads="1" noChangeShapeType="1" noTextEdit="1"/>
              </p:cNvSpPr>
              <p:nvPr/>
            </p:nvSpPr>
            <p:spPr>
              <a:xfrm>
                <a:off x="6321421" y="2709096"/>
                <a:ext cx="5486559" cy="1200329"/>
              </a:xfrm>
              <a:prstGeom prst="rect">
                <a:avLst/>
              </a:prstGeom>
              <a:blipFill>
                <a:blip r:embed="rId7"/>
                <a:stretch>
                  <a:fillRect t="-2538" b="-7107"/>
                </a:stretch>
              </a:blipFill>
            </p:spPr>
            <p:txBody>
              <a:bodyPr/>
              <a:lstStyle/>
              <a:p>
                <a:r>
                  <a:rPr lang="es-ES">
                    <a:noFill/>
                  </a:rPr>
                  <a:t> </a:t>
                </a:r>
              </a:p>
            </p:txBody>
          </p:sp>
        </mc:Fallback>
      </mc:AlternateContent>
      <p:sp>
        <p:nvSpPr>
          <p:cNvPr id="8" name="CuadroTexto 7">
            <a:extLst>
              <a:ext uri="{FF2B5EF4-FFF2-40B4-BE49-F238E27FC236}">
                <a16:creationId xmlns:a16="http://schemas.microsoft.com/office/drawing/2014/main" id="{0F38E924-A0E7-A039-C837-916BA77FE89B}"/>
              </a:ext>
            </a:extLst>
          </p:cNvPr>
          <p:cNvSpPr txBox="1"/>
          <p:nvPr/>
        </p:nvSpPr>
        <p:spPr>
          <a:xfrm>
            <a:off x="6347361" y="4498712"/>
            <a:ext cx="5486560" cy="276999"/>
          </a:xfrm>
          <a:prstGeom prst="rect">
            <a:avLst/>
          </a:prstGeom>
          <a:noFill/>
        </p:spPr>
        <p:txBody>
          <a:bodyPr wrap="square">
            <a:spAutoFit/>
          </a:bodyPr>
          <a:lstStyle/>
          <a:p>
            <a:pPr algn="r"/>
            <a:r>
              <a:rPr lang="es-ES" sz="1200" b="1" noProof="0" dirty="0" err="1">
                <a:solidFill>
                  <a:schemeClr val="tx1"/>
                </a:solidFill>
                <a:latin typeface="Arial" panose="020B0604020202020204" pitchFamily="34" charset="0"/>
                <a:cs typeface="Arial" panose="020B0604020202020204" pitchFamily="34" charset="0"/>
              </a:rPr>
              <a:t>slab</a:t>
            </a:r>
            <a:r>
              <a:rPr lang="es-ES" sz="1200" b="1" noProof="0" dirty="0">
                <a:solidFill>
                  <a:schemeClr val="tx1"/>
                </a:solidFill>
                <a:latin typeface="Arial" panose="020B0604020202020204" pitchFamily="34" charset="0"/>
                <a:cs typeface="Arial" panose="020B0604020202020204" pitchFamily="34" charset="0"/>
              </a:rPr>
              <a:t>: 150nm</a:t>
            </a:r>
            <a:endParaRPr lang="es-ES" sz="1200" noProof="0" dirty="0">
              <a:solidFill>
                <a:schemeClr val="tx1"/>
              </a:solidFill>
              <a:latin typeface="Arial" panose="020B0604020202020204" pitchFamily="34" charset="0"/>
              <a:cs typeface="Arial" panose="020B0604020202020204" pitchFamily="34" charset="0"/>
            </a:endParaRPr>
          </a:p>
        </p:txBody>
      </p:sp>
      <p:pic>
        <p:nvPicPr>
          <p:cNvPr id="7" name="Imagen 6" descr="Gráfico, Gráfico de líneas&#10;&#10;El contenido generado por IA puede ser incorrecto.">
            <a:extLst>
              <a:ext uri="{FF2B5EF4-FFF2-40B4-BE49-F238E27FC236}">
                <a16:creationId xmlns:a16="http://schemas.microsoft.com/office/drawing/2014/main" id="{C6BCFB7A-6F7C-D7F6-8910-5D1460B13209}"/>
              </a:ext>
            </a:extLst>
          </p:cNvPr>
          <p:cNvPicPr>
            <a:picLocks noChangeAspect="1"/>
          </p:cNvPicPr>
          <p:nvPr/>
        </p:nvPicPr>
        <p:blipFill>
          <a:blip r:embed="rId8"/>
          <a:stretch>
            <a:fillRect/>
          </a:stretch>
        </p:blipFill>
        <p:spPr>
          <a:xfrm>
            <a:off x="669524" y="1575004"/>
            <a:ext cx="5274076" cy="3143136"/>
          </a:xfrm>
          <a:prstGeom prst="rect">
            <a:avLst/>
          </a:prstGeom>
        </p:spPr>
      </p:pic>
      <p:pic>
        <p:nvPicPr>
          <p:cNvPr id="11" name="Imagen 10">
            <a:extLst>
              <a:ext uri="{FF2B5EF4-FFF2-40B4-BE49-F238E27FC236}">
                <a16:creationId xmlns:a16="http://schemas.microsoft.com/office/drawing/2014/main" id="{FDF0ED4D-3F7E-5E64-DEE7-1079A9BE925B}"/>
              </a:ext>
            </a:extLst>
          </p:cNvPr>
          <p:cNvPicPr>
            <a:picLocks noChangeAspect="1"/>
          </p:cNvPicPr>
          <p:nvPr/>
        </p:nvPicPr>
        <p:blipFill>
          <a:blip r:embed="rId9"/>
          <a:stretch>
            <a:fillRect/>
          </a:stretch>
        </p:blipFill>
        <p:spPr>
          <a:xfrm>
            <a:off x="6332674" y="1446192"/>
            <a:ext cx="5437120" cy="3306028"/>
          </a:xfrm>
          <a:prstGeom prst="rect">
            <a:avLst/>
          </a:prstGeom>
        </p:spPr>
      </p:pic>
    </p:spTree>
    <p:extLst>
      <p:ext uri="{BB962C8B-B14F-4D97-AF65-F5344CB8AC3E}">
        <p14:creationId xmlns:p14="http://schemas.microsoft.com/office/powerpoint/2010/main" val="236054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79619DC0-3509-E6A1-B8D8-EB537C08D521}"/>
              </a:ext>
            </a:extLst>
          </p:cNvPr>
          <p:cNvSpPr>
            <a:spLocks noGrp="1"/>
          </p:cNvSpPr>
          <p:nvPr>
            <p:ph type="ftr" sz="quarter" idx="5"/>
          </p:nvPr>
        </p:nvSpPr>
        <p:spPr/>
        <p:txBody>
          <a:bodyPr/>
          <a:lstStyle/>
          <a:p>
            <a:pPr marL="12700">
              <a:spcBef>
                <a:spcPts val="15"/>
              </a:spcBef>
            </a:pPr>
            <a:r>
              <a:rPr lang="es-ES" spc="-5" noProof="0" dirty="0"/>
              <a:t>LAB 1.0 WAVEGUIDES</a:t>
            </a:r>
          </a:p>
        </p:txBody>
      </p:sp>
      <p:sp>
        <p:nvSpPr>
          <p:cNvPr id="5" name="Marcador de número de diapositiva 4">
            <a:extLst>
              <a:ext uri="{FF2B5EF4-FFF2-40B4-BE49-F238E27FC236}">
                <a16:creationId xmlns:a16="http://schemas.microsoft.com/office/drawing/2014/main" id="{8623641A-B7D4-F40B-FFC6-4764FC8FACCC}"/>
              </a:ext>
            </a:extLst>
          </p:cNvPr>
          <p:cNvSpPr>
            <a:spLocks noGrp="1"/>
          </p:cNvSpPr>
          <p:nvPr>
            <p:ph type="sldNum" sz="quarter" idx="7"/>
          </p:nvPr>
        </p:nvSpPr>
        <p:spPr/>
        <p:txBody>
          <a:bodyPr/>
          <a:lstStyle/>
          <a:p>
            <a:fld id="{B6F15528-21DE-4FAA-801E-634DDDAF4B2B}" type="slidenum">
              <a:rPr lang="es-ES" noProof="0" smtClean="0"/>
              <a:t>9</a:t>
            </a:fld>
            <a:endParaRPr lang="es-ES" noProof="0" dirty="0"/>
          </a:p>
        </p:txBody>
      </p:sp>
      <p:sp>
        <p:nvSpPr>
          <p:cNvPr id="10" name="CuadroTexto 9">
            <a:extLst>
              <a:ext uri="{FF2B5EF4-FFF2-40B4-BE49-F238E27FC236}">
                <a16:creationId xmlns:a16="http://schemas.microsoft.com/office/drawing/2014/main" id="{E673B233-6726-F55F-F528-7BD36D636510}"/>
              </a:ext>
            </a:extLst>
          </p:cNvPr>
          <p:cNvSpPr txBox="1"/>
          <p:nvPr/>
        </p:nvSpPr>
        <p:spPr>
          <a:xfrm>
            <a:off x="381000" y="457200"/>
            <a:ext cx="11198542" cy="3970318"/>
          </a:xfrm>
          <a:prstGeom prst="rect">
            <a:avLst/>
          </a:prstGeom>
          <a:solidFill>
            <a:schemeClr val="bg1">
              <a:lumMod val="95000"/>
            </a:schemeClr>
          </a:solidFill>
          <a:ln w="28575">
            <a:solidFill>
              <a:srgbClr val="E0700D"/>
            </a:solidFill>
          </a:ln>
        </p:spPr>
        <p:txBody>
          <a:bodyPr wrap="square" rtlCol="0">
            <a:spAutoFit/>
          </a:bodyPr>
          <a:lstStyle/>
          <a:p>
            <a:r>
              <a:rPr lang="es-ES" dirty="0"/>
              <a:t>En ambas guías, </a:t>
            </a:r>
            <a:r>
              <a:rPr lang="es-ES" dirty="0" err="1"/>
              <a:t>neff</a:t>
            </a:r>
            <a:r>
              <a:rPr lang="es-ES" dirty="0"/>
              <a:t> disminuye con la longitud de onda porque al aumentar </a:t>
            </a:r>
            <a:r>
              <a:rPr lang="el-GR" dirty="0"/>
              <a:t>λ</a:t>
            </a:r>
            <a:r>
              <a:rPr lang="es-ES" dirty="0"/>
              <a:t> el modo se desconfina más y una mayor fracción del campo penetra en el </a:t>
            </a:r>
            <a:r>
              <a:rPr lang="es-ES" dirty="0" err="1"/>
              <a:t>cladding</a:t>
            </a:r>
            <a:r>
              <a:rPr lang="es-ES" dirty="0"/>
              <a:t>, reduciendo el índice efectivo medio. Los valores de n2 &lt; 0 confirman esa pendiente negativa, y por eso ng = n1 – n2</a:t>
            </a:r>
            <a:r>
              <a:rPr lang="el-GR" dirty="0"/>
              <a:t> λ</a:t>
            </a:r>
            <a:r>
              <a:rPr lang="es-ES" dirty="0"/>
              <a:t>0 resulta mayor que </a:t>
            </a:r>
            <a:r>
              <a:rPr lang="es-ES" dirty="0" err="1"/>
              <a:t>neff</a:t>
            </a:r>
            <a:r>
              <a:rPr lang="es-ES" dirty="0"/>
              <a:t>:  el índice de grupo incorpora la dependencia espectral del guiado.</a:t>
            </a:r>
          </a:p>
          <a:p>
            <a:r>
              <a:rPr lang="es-ES" noProof="0" dirty="0"/>
              <a:t>El modo T</a:t>
            </a:r>
            <a:r>
              <a:rPr lang="es-ES" dirty="0"/>
              <a:t>E0 presenta mayor </a:t>
            </a:r>
            <a:r>
              <a:rPr lang="es-ES" dirty="0" err="1"/>
              <a:t>neff</a:t>
            </a:r>
            <a:r>
              <a:rPr lang="es-ES" dirty="0"/>
              <a:t> y mayor ng que TM0 porque su confinamiento en el núcleo es más fuerte.</a:t>
            </a:r>
          </a:p>
          <a:p>
            <a:r>
              <a:rPr lang="es-ES" noProof="0" dirty="0"/>
              <a:t>En cambio, TM0 interactúa más con el </a:t>
            </a:r>
            <a:r>
              <a:rPr lang="es-ES" noProof="0" dirty="0" err="1"/>
              <a:t>cladding</a:t>
            </a:r>
            <a:r>
              <a:rPr lang="es-ES" noProof="0" dirty="0"/>
              <a:t>, por eso tiene menor </a:t>
            </a:r>
            <a:r>
              <a:rPr lang="es-ES" noProof="0" dirty="0" err="1"/>
              <a:t>neff</a:t>
            </a:r>
            <a:r>
              <a:rPr lang="es-ES" noProof="0" dirty="0"/>
              <a:t>.</a:t>
            </a:r>
          </a:p>
          <a:p>
            <a:r>
              <a:rPr lang="es-ES" dirty="0"/>
              <a:t>Eso se refleja en n3 y en D: el modo TM0 tiene |D| mayor que TE0, luego es más dispersivo.</a:t>
            </a:r>
          </a:p>
          <a:p>
            <a:r>
              <a:rPr lang="es-ES" noProof="0" dirty="0"/>
              <a:t>Como D&lt;0 en todos los casos, la </a:t>
            </a:r>
            <a:r>
              <a:rPr lang="es-ES" noProof="0" dirty="0" err="1"/>
              <a:t>gu</a:t>
            </a:r>
            <a:r>
              <a:rPr lang="es-ES" dirty="0" err="1"/>
              <a:t>ía</a:t>
            </a:r>
            <a:r>
              <a:rPr lang="es-ES" dirty="0"/>
              <a:t> opera en régimen de dispersión normal y el pulso tendrá a ensancharse temporalmente.</a:t>
            </a:r>
          </a:p>
          <a:p>
            <a:r>
              <a:rPr lang="es-ES" noProof="0" dirty="0"/>
              <a:t>La guía </a:t>
            </a:r>
            <a:r>
              <a:rPr lang="es-ES" noProof="0" dirty="0" err="1"/>
              <a:t>shallow</a:t>
            </a:r>
            <a:r>
              <a:rPr lang="es-ES" noProof="0" dirty="0"/>
              <a:t> da valores de </a:t>
            </a:r>
            <a:r>
              <a:rPr lang="es-ES" noProof="0" dirty="0" err="1"/>
              <a:t>neff</a:t>
            </a:r>
            <a:r>
              <a:rPr lang="es-ES" noProof="0" dirty="0"/>
              <a:t> algo mayores </a:t>
            </a:r>
            <a:r>
              <a:rPr lang="es-ES" dirty="0"/>
              <a:t>que la Deep porque el </a:t>
            </a:r>
            <a:r>
              <a:rPr lang="es-ES" dirty="0" err="1"/>
              <a:t>slab</a:t>
            </a:r>
            <a:r>
              <a:rPr lang="es-ES" dirty="0"/>
              <a:t> eleva el índice efectivo del entorno y reduce la fuga modal.</a:t>
            </a:r>
          </a:p>
          <a:p>
            <a:r>
              <a:rPr lang="es-ES" noProof="0" dirty="0"/>
              <a:t>Sin</a:t>
            </a:r>
            <a:r>
              <a:rPr lang="es-ES" dirty="0"/>
              <a:t> embargo, las diferencias en D entre Deep y </a:t>
            </a:r>
            <a:r>
              <a:rPr lang="es-ES" dirty="0" err="1"/>
              <a:t>shallow</a:t>
            </a:r>
            <a:r>
              <a:rPr lang="es-ES" dirty="0"/>
              <a:t> son pequeñas, lo que indica que la geometría modifica más el confinamiento que la naturaleza global de la dispersión.</a:t>
            </a:r>
            <a:endParaRPr lang="es-ES" noProof="0" dirty="0"/>
          </a:p>
          <a:p>
            <a:endParaRPr lang="es-ES" noProof="0" dirty="0"/>
          </a:p>
        </p:txBody>
      </p:sp>
    </p:spTree>
    <p:extLst>
      <p:ext uri="{BB962C8B-B14F-4D97-AF65-F5344CB8AC3E}">
        <p14:creationId xmlns:p14="http://schemas.microsoft.com/office/powerpoint/2010/main" val="1934062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s-ES" sz="2500" noProof="0" dirty="0" err="1"/>
              <a:t>Learning</a:t>
            </a:r>
            <a:r>
              <a:rPr lang="es-ES" sz="2500" noProof="0" dirty="0"/>
              <a:t> </a:t>
            </a:r>
            <a:r>
              <a:rPr lang="es-ES" sz="2500" noProof="0" dirty="0" err="1"/>
              <a:t>outcome</a:t>
            </a:r>
            <a:r>
              <a:rPr lang="es-ES" sz="2500" noProof="0" dirty="0"/>
              <a:t> #5 – Bend </a:t>
            </a:r>
            <a:r>
              <a:rPr lang="es-ES" sz="2500" noProof="0" dirty="0" err="1"/>
              <a:t>waveguide</a:t>
            </a:r>
            <a:r>
              <a:rPr lang="es-ES" sz="2500" noProof="0" dirty="0"/>
              <a:t> </a:t>
            </a:r>
            <a:r>
              <a:rPr lang="es-ES" sz="2500" noProof="0" dirty="0" err="1"/>
              <a:t>radius</a:t>
            </a:r>
            <a:r>
              <a:rPr lang="es-ES" sz="2500" noProof="0" dirty="0"/>
              <a:t> vs. </a:t>
            </a:r>
            <a:r>
              <a:rPr lang="es-ES" sz="2500" noProof="0" dirty="0" err="1"/>
              <a:t>loss</a:t>
            </a:r>
            <a:r>
              <a:rPr lang="es-ES" sz="2500" noProof="0" dirty="0"/>
              <a:t> – </a:t>
            </a:r>
            <a:r>
              <a:rPr lang="es-ES" sz="2500" noProof="0" dirty="0" err="1"/>
              <a:t>deep</a:t>
            </a:r>
            <a:br>
              <a:rPr lang="es-ES" sz="2500" noProof="0" dirty="0"/>
            </a:br>
            <a:r>
              <a:rPr lang="es-ES" b="0" noProof="0" dirty="0" err="1"/>
              <a:t>Find</a:t>
            </a:r>
            <a:r>
              <a:rPr lang="es-ES" b="0" noProof="0" dirty="0"/>
              <a:t>  neff_TE0 </a:t>
            </a:r>
            <a:r>
              <a:rPr lang="es-ES" b="0" noProof="0" dirty="0" err="1"/>
              <a:t>for</a:t>
            </a:r>
            <a:r>
              <a:rPr lang="es-ES" b="0" noProof="0" dirty="0"/>
              <a:t> </a:t>
            </a:r>
            <a:r>
              <a:rPr lang="es-ES" b="0" noProof="0" dirty="0" err="1"/>
              <a:t>wvl</a:t>
            </a:r>
            <a:r>
              <a:rPr lang="es-ES" b="0" noProof="0" dirty="0"/>
              <a:t> 1.55 µm, </a:t>
            </a:r>
            <a:r>
              <a:rPr lang="es-ES" b="0" noProof="0" dirty="0" err="1"/>
              <a:t>width</a:t>
            </a:r>
            <a:r>
              <a:rPr lang="es-ES" b="0" noProof="0" dirty="0"/>
              <a:t> 1.2 µm </a:t>
            </a:r>
            <a:r>
              <a:rPr lang="es-ES" b="0" noProof="0" dirty="0" err="1"/>
              <a:t>for</a:t>
            </a:r>
            <a:r>
              <a:rPr lang="es-ES" b="0" noProof="0" dirty="0"/>
              <a:t> R=25,50,75,100, 125,150 µm</a:t>
            </a:r>
            <a:br>
              <a:rPr lang="es-ES" sz="2500" noProof="0" dirty="0"/>
            </a:br>
            <a:endParaRPr lang="es-ES" sz="2500" b="0" noProof="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noProof="0" smtClean="0"/>
              <a:t>10</a:t>
            </a:fld>
            <a:endParaRPr lang="es-ES" noProof="0" dirty="0"/>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noProof="0" dirty="0"/>
              <a:t>LAB 1.0 WAVEGUIDES</a:t>
            </a:r>
          </a:p>
        </p:txBody>
      </p:sp>
      <p:sp>
        <p:nvSpPr>
          <p:cNvPr id="2" name="CuadroTexto 1">
            <a:extLst>
              <a:ext uri="{FF2B5EF4-FFF2-40B4-BE49-F238E27FC236}">
                <a16:creationId xmlns:a16="http://schemas.microsoft.com/office/drawing/2014/main" id="{FDE3A197-9508-F9F1-1FEB-FF883D78C151}"/>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s-ES" sz="1200" noProof="0" dirty="0" err="1">
                <a:latin typeface="Arial" panose="020B0604020202020204" pitchFamily="34" charset="0"/>
                <a:cs typeface="Arial" panose="020B0604020202020204" pitchFamily="34" charset="0"/>
              </a:rPr>
              <a:t>Comment</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results</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which</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is</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the</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safe</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radius</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consider</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safe</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means</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less</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than</a:t>
            </a:r>
            <a:r>
              <a:rPr lang="es-ES" sz="1200" noProof="0" dirty="0">
                <a:latin typeface="Arial" panose="020B0604020202020204" pitchFamily="34" charset="0"/>
                <a:cs typeface="Arial" panose="020B0604020202020204" pitchFamily="34" charset="0"/>
              </a:rPr>
              <a:t> 0.1 dB/90º.</a:t>
            </a:r>
          </a:p>
          <a:p>
            <a:pPr algn="just"/>
            <a:endParaRPr lang="es-ES" sz="1200" noProof="0" dirty="0">
              <a:latin typeface="Arial" panose="020B0604020202020204" pitchFamily="34" charset="0"/>
              <a:cs typeface="Arial" panose="020B0604020202020204" pitchFamily="34" charset="0"/>
            </a:endParaRPr>
          </a:p>
          <a:p>
            <a:pPr algn="just"/>
            <a:r>
              <a:rPr lang="es-ES" sz="1200" noProof="0" dirty="0">
                <a:latin typeface="Arial" panose="020B0604020202020204" pitchFamily="34" charset="0"/>
                <a:cs typeface="Arial" panose="020B0604020202020204" pitchFamily="34" charset="0"/>
              </a:rPr>
              <a:t>37,5 </a:t>
            </a:r>
            <a:r>
              <a:rPr lang="es-ES" sz="1200" noProof="0" dirty="0" err="1">
                <a:latin typeface="Arial" panose="020B0604020202020204" pitchFamily="34" charset="0"/>
                <a:cs typeface="Arial" panose="020B0604020202020204" pitchFamily="34" charset="0"/>
              </a:rPr>
              <a:t>um</a:t>
            </a:r>
            <a:r>
              <a:rPr lang="es-ES" sz="1200" noProof="0" dirty="0">
                <a:latin typeface="Arial" panose="020B0604020202020204" pitchFamily="34" charset="0"/>
                <a:cs typeface="Arial" panose="020B0604020202020204" pitchFamily="34" charset="0"/>
              </a:rPr>
              <a:t>  aproximadamente es dónde el radio empieza a ser seguro.</a:t>
            </a: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B5FE8755-B0BF-14B7-64E6-4BBB2560B9A6}"/>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sp>
        <p:nvSpPr>
          <p:cNvPr id="8" name="CuadroTexto 7">
            <a:extLst>
              <a:ext uri="{FF2B5EF4-FFF2-40B4-BE49-F238E27FC236}">
                <a16:creationId xmlns:a16="http://schemas.microsoft.com/office/drawing/2014/main" id="{331EBD86-BA6C-68C9-2D38-FC8CFBA7ADC4}"/>
              </a:ext>
            </a:extLst>
          </p:cNvPr>
          <p:cNvSpPr txBox="1"/>
          <p:nvPr/>
        </p:nvSpPr>
        <p:spPr>
          <a:xfrm>
            <a:off x="2978141" y="2784355"/>
            <a:ext cx="6235717" cy="923330"/>
          </a:xfrm>
          <a:prstGeom prst="rect">
            <a:avLst/>
          </a:prstGeom>
          <a:noFill/>
        </p:spPr>
        <p:txBody>
          <a:bodyPr wrap="square" rtlCol="0">
            <a:spAutoFit/>
          </a:bodyPr>
          <a:lstStyle/>
          <a:p>
            <a:pPr algn="ctr"/>
            <a:r>
              <a:rPr lang="es-ES" b="1" noProof="0" dirty="0" err="1"/>
              <a:t>deep</a:t>
            </a:r>
            <a:r>
              <a:rPr lang="es-ES" noProof="0" dirty="0"/>
              <a:t> </a:t>
            </a:r>
            <a:r>
              <a:rPr lang="es-ES" noProof="0" dirty="0" err="1"/>
              <a:t>waveguide</a:t>
            </a:r>
            <a:endParaRPr lang="es-ES" noProof="0" dirty="0"/>
          </a:p>
          <a:p>
            <a:pPr algn="ctr"/>
            <a:endParaRPr lang="es-ES" noProof="0" dirty="0"/>
          </a:p>
          <a:p>
            <a:pPr algn="ctr"/>
            <a:r>
              <a:rPr lang="es-ES" noProof="0" dirty="0"/>
              <a:t>Paste Total </a:t>
            </a:r>
            <a:r>
              <a:rPr lang="es-ES" noProof="0" dirty="0" err="1"/>
              <a:t>Loss</a:t>
            </a:r>
            <a:r>
              <a:rPr lang="es-ES" noProof="0" dirty="0"/>
              <a:t> (dB/90º) vs R &amp; neff_TE0 vs R</a:t>
            </a:r>
          </a:p>
        </p:txBody>
      </p:sp>
      <p:pic>
        <p:nvPicPr>
          <p:cNvPr id="5" name="Imagen 4">
            <a:extLst>
              <a:ext uri="{FF2B5EF4-FFF2-40B4-BE49-F238E27FC236}">
                <a16:creationId xmlns:a16="http://schemas.microsoft.com/office/drawing/2014/main" id="{9C797F18-3C83-8001-88D6-D646D31C8EB3}"/>
              </a:ext>
            </a:extLst>
          </p:cNvPr>
          <p:cNvPicPr>
            <a:picLocks noChangeAspect="1"/>
          </p:cNvPicPr>
          <p:nvPr/>
        </p:nvPicPr>
        <p:blipFill>
          <a:blip r:embed="rId5"/>
          <a:stretch>
            <a:fillRect/>
          </a:stretch>
        </p:blipFill>
        <p:spPr>
          <a:xfrm>
            <a:off x="609441" y="1446184"/>
            <a:ext cx="4114800" cy="3250406"/>
          </a:xfrm>
          <a:prstGeom prst="rect">
            <a:avLst/>
          </a:prstGeom>
        </p:spPr>
      </p:pic>
      <p:pic>
        <p:nvPicPr>
          <p:cNvPr id="9" name="Imagen 8">
            <a:extLst>
              <a:ext uri="{FF2B5EF4-FFF2-40B4-BE49-F238E27FC236}">
                <a16:creationId xmlns:a16="http://schemas.microsoft.com/office/drawing/2014/main" id="{3EC68837-4996-FDF0-CCAC-F7349F698711}"/>
              </a:ext>
            </a:extLst>
          </p:cNvPr>
          <p:cNvPicPr>
            <a:picLocks noChangeAspect="1"/>
          </p:cNvPicPr>
          <p:nvPr/>
        </p:nvPicPr>
        <p:blipFill>
          <a:blip r:embed="rId6"/>
          <a:stretch>
            <a:fillRect/>
          </a:stretch>
        </p:blipFill>
        <p:spPr>
          <a:xfrm>
            <a:off x="4724241" y="1444574"/>
            <a:ext cx="7085170" cy="3232301"/>
          </a:xfrm>
          <a:prstGeom prst="rect">
            <a:avLst/>
          </a:prstGeom>
        </p:spPr>
      </p:pic>
    </p:spTree>
    <p:extLst>
      <p:ext uri="{BB962C8B-B14F-4D97-AF65-F5344CB8AC3E}">
        <p14:creationId xmlns:p14="http://schemas.microsoft.com/office/powerpoint/2010/main" val="36604382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60C5F35E-75A4-A5D9-01BB-97968D94C0C6}"/>
              </a:ext>
            </a:extLst>
          </p:cNvPr>
          <p:cNvSpPr>
            <a:spLocks noGrp="1"/>
          </p:cNvSpPr>
          <p:nvPr>
            <p:ph type="ftr" sz="quarter" idx="5"/>
          </p:nvPr>
        </p:nvSpPr>
        <p:spPr/>
        <p:txBody>
          <a:bodyPr/>
          <a:lstStyle/>
          <a:p>
            <a:pPr marL="12700">
              <a:spcBef>
                <a:spcPts val="15"/>
              </a:spcBef>
            </a:pPr>
            <a:r>
              <a:rPr lang="es-ES" spc="-5" noProof="0" dirty="0"/>
              <a:t>LAB 1.0 WAVEGUIDES</a:t>
            </a:r>
          </a:p>
        </p:txBody>
      </p:sp>
      <p:sp>
        <p:nvSpPr>
          <p:cNvPr id="5" name="Marcador de número de diapositiva 4">
            <a:extLst>
              <a:ext uri="{FF2B5EF4-FFF2-40B4-BE49-F238E27FC236}">
                <a16:creationId xmlns:a16="http://schemas.microsoft.com/office/drawing/2014/main" id="{44F0E9D7-CB90-05F6-18F9-4FEE7F25DCE5}"/>
              </a:ext>
            </a:extLst>
          </p:cNvPr>
          <p:cNvSpPr>
            <a:spLocks noGrp="1"/>
          </p:cNvSpPr>
          <p:nvPr>
            <p:ph type="sldNum" sz="quarter" idx="7"/>
          </p:nvPr>
        </p:nvSpPr>
        <p:spPr/>
        <p:txBody>
          <a:bodyPr/>
          <a:lstStyle/>
          <a:p>
            <a:fld id="{B6F15528-21DE-4FAA-801E-634DDDAF4B2B}" type="slidenum">
              <a:rPr lang="es-ES" noProof="0" smtClean="0"/>
              <a:t>11</a:t>
            </a:fld>
            <a:endParaRPr lang="es-ES" noProof="0" dirty="0"/>
          </a:p>
        </p:txBody>
      </p:sp>
      <p:sp>
        <p:nvSpPr>
          <p:cNvPr id="6" name="CuadroTexto 5">
            <a:extLst>
              <a:ext uri="{FF2B5EF4-FFF2-40B4-BE49-F238E27FC236}">
                <a16:creationId xmlns:a16="http://schemas.microsoft.com/office/drawing/2014/main" id="{9C899FCB-A15F-54BA-8131-D15303EF3588}"/>
              </a:ext>
            </a:extLst>
          </p:cNvPr>
          <p:cNvSpPr txBox="1"/>
          <p:nvPr/>
        </p:nvSpPr>
        <p:spPr>
          <a:xfrm>
            <a:off x="304800" y="216277"/>
            <a:ext cx="11199971" cy="2308324"/>
          </a:xfrm>
          <a:prstGeom prst="rect">
            <a:avLst/>
          </a:prstGeom>
          <a:solidFill>
            <a:schemeClr val="bg1">
              <a:lumMod val="95000"/>
            </a:schemeClr>
          </a:solidFill>
          <a:ln w="28575">
            <a:solidFill>
              <a:srgbClr val="E0700D"/>
            </a:solidFill>
          </a:ln>
        </p:spPr>
        <p:txBody>
          <a:bodyPr wrap="square" rtlCol="0">
            <a:spAutoFit/>
          </a:bodyPr>
          <a:lstStyle/>
          <a:p>
            <a:pPr algn="just"/>
            <a:r>
              <a:rPr lang="es-ES" sz="1200" noProof="0" dirty="0">
                <a:latin typeface="Arial" panose="020B0604020202020204" pitchFamily="34" charset="0"/>
                <a:cs typeface="Arial" panose="020B0604020202020204" pitchFamily="34" charset="0"/>
              </a:rPr>
              <a:t>La primera gráfica muestra como las pérdidas de modo disminuyen a medida que aumenta el radio de curvatura, lo que indica una mejora alineación del modo con la guía onda. Sin embargo, las pérdidas de propagación aumentan a medida que el radio crece, lo que podría sugerir un mayor acoplamiento o desplazamiento de los modos hacia el área de recubrimiento. Por ende, la pérdida total sigue un comportamiento mixto, aumentando debido a las pérdidas de propagación, a pesar de la reducción en las pérdidas de modo.</a:t>
            </a:r>
          </a:p>
          <a:p>
            <a:pPr algn="just"/>
            <a:endParaRPr lang="es-ES" sz="1200" noProof="0" dirty="0">
              <a:latin typeface="Arial" panose="020B0604020202020204" pitchFamily="34" charset="0"/>
              <a:cs typeface="Arial" panose="020B0604020202020204" pitchFamily="34" charset="0"/>
            </a:endParaRPr>
          </a:p>
          <a:p>
            <a:pPr algn="just"/>
            <a:r>
              <a:rPr lang="es-ES" sz="1200" noProof="0" dirty="0">
                <a:latin typeface="Arial" panose="020B0604020202020204" pitchFamily="34" charset="0"/>
                <a:cs typeface="Arial" panose="020B0604020202020204" pitchFamily="34" charset="0"/>
              </a:rPr>
              <a:t>La segunda gráfica muestra el comportamiento del índice efectivo TE0 frente al radio de curvatura. A medida que el radio de curvatura aumenta, el valor de el índice efectivo disminuye, lo que indica que la curvatura afecta más el modo en radios pequeños. Este comportamiento indica que los efectos de la curvatura en el modo se estabilizan cuando el radio de curvatura es suficientemente grande.</a:t>
            </a: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102459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6ACB14-C06B-07C7-69AB-00C58976582D}"/>
              </a:ext>
            </a:extLst>
          </p:cNvPr>
          <p:cNvSpPr>
            <a:spLocks noGrp="1"/>
          </p:cNvSpPr>
          <p:nvPr>
            <p:ph type="title"/>
          </p:nvPr>
        </p:nvSpPr>
        <p:spPr/>
        <p:txBody>
          <a:bodyPr/>
          <a:lstStyle/>
          <a:p>
            <a:r>
              <a:rPr lang="es-ES" dirty="0"/>
              <a:t>Extra 1</a:t>
            </a:r>
          </a:p>
        </p:txBody>
      </p:sp>
      <p:sp>
        <p:nvSpPr>
          <p:cNvPr id="4" name="Marcador de pie de página 3">
            <a:extLst>
              <a:ext uri="{FF2B5EF4-FFF2-40B4-BE49-F238E27FC236}">
                <a16:creationId xmlns:a16="http://schemas.microsoft.com/office/drawing/2014/main" id="{E1936EF7-AA41-E185-2DFC-F6429FDA7E5A}"/>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Marcador de número de diapositiva 4">
            <a:extLst>
              <a:ext uri="{FF2B5EF4-FFF2-40B4-BE49-F238E27FC236}">
                <a16:creationId xmlns:a16="http://schemas.microsoft.com/office/drawing/2014/main" id="{2F841B50-6A00-9205-28B5-2EC23BC8FA11}"/>
              </a:ext>
            </a:extLst>
          </p:cNvPr>
          <p:cNvSpPr>
            <a:spLocks noGrp="1"/>
          </p:cNvSpPr>
          <p:nvPr>
            <p:ph type="sldNum" sz="quarter" idx="7"/>
          </p:nvPr>
        </p:nvSpPr>
        <p:spPr/>
        <p:txBody>
          <a:bodyPr/>
          <a:lstStyle/>
          <a:p>
            <a:fld id="{B6F15528-21DE-4FAA-801E-634DDDAF4B2B}" type="slidenum">
              <a:rPr lang="es-ES" smtClean="0"/>
              <a:t>12</a:t>
            </a:fld>
            <a:endParaRPr lang="es-ES"/>
          </a:p>
        </p:txBody>
      </p:sp>
      <p:pic>
        <p:nvPicPr>
          <p:cNvPr id="9" name="Imagen 8">
            <a:extLst>
              <a:ext uri="{FF2B5EF4-FFF2-40B4-BE49-F238E27FC236}">
                <a16:creationId xmlns:a16="http://schemas.microsoft.com/office/drawing/2014/main" id="{ACCE9670-0E6C-3E2C-A351-66B8B4041214}"/>
              </a:ext>
            </a:extLst>
          </p:cNvPr>
          <p:cNvPicPr>
            <a:picLocks noChangeAspect="1"/>
          </p:cNvPicPr>
          <p:nvPr/>
        </p:nvPicPr>
        <p:blipFill>
          <a:blip r:embed="rId2"/>
          <a:stretch>
            <a:fillRect/>
          </a:stretch>
        </p:blipFill>
        <p:spPr>
          <a:xfrm>
            <a:off x="381000" y="514529"/>
            <a:ext cx="5388122" cy="3143071"/>
          </a:xfrm>
          <a:prstGeom prst="rect">
            <a:avLst/>
          </a:prstGeom>
        </p:spPr>
      </p:pic>
      <p:pic>
        <p:nvPicPr>
          <p:cNvPr id="11" name="Imagen 10">
            <a:extLst>
              <a:ext uri="{FF2B5EF4-FFF2-40B4-BE49-F238E27FC236}">
                <a16:creationId xmlns:a16="http://schemas.microsoft.com/office/drawing/2014/main" id="{DFB15345-6251-3A40-B7B9-128413FAD01F}"/>
              </a:ext>
            </a:extLst>
          </p:cNvPr>
          <p:cNvPicPr>
            <a:picLocks noChangeAspect="1"/>
          </p:cNvPicPr>
          <p:nvPr/>
        </p:nvPicPr>
        <p:blipFill>
          <a:blip r:embed="rId3"/>
          <a:stretch>
            <a:fillRect/>
          </a:stretch>
        </p:blipFill>
        <p:spPr>
          <a:xfrm>
            <a:off x="6378280" y="514529"/>
            <a:ext cx="5388122" cy="3143071"/>
          </a:xfrm>
          <a:prstGeom prst="rect">
            <a:avLst/>
          </a:prstGeom>
        </p:spPr>
      </p:pic>
      <p:sp>
        <p:nvSpPr>
          <p:cNvPr id="12" name="CuadroTexto 11">
            <a:extLst>
              <a:ext uri="{FF2B5EF4-FFF2-40B4-BE49-F238E27FC236}">
                <a16:creationId xmlns:a16="http://schemas.microsoft.com/office/drawing/2014/main" id="{3946E192-373E-4366-3ECB-F77C8577D379}"/>
              </a:ext>
            </a:extLst>
          </p:cNvPr>
          <p:cNvSpPr txBox="1"/>
          <p:nvPr/>
        </p:nvSpPr>
        <p:spPr>
          <a:xfrm>
            <a:off x="486489" y="3824050"/>
            <a:ext cx="11199971" cy="1754326"/>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Comparación</a:t>
            </a:r>
          </a:p>
          <a:p>
            <a:pPr algn="just"/>
            <a:endParaRPr lang="es-ES" sz="1200" noProof="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La tecnología SOI (Si/Sio2) presenta valores de </a:t>
            </a:r>
            <a:r>
              <a:rPr lang="es-ES" sz="1200" dirty="0" err="1">
                <a:latin typeface="Arial" panose="020B0604020202020204" pitchFamily="34" charset="0"/>
                <a:cs typeface="Arial" panose="020B0604020202020204" pitchFamily="34" charset="0"/>
              </a:rPr>
              <a:t>neff</a:t>
            </a:r>
            <a:r>
              <a:rPr lang="es-ES" sz="1200" dirty="0">
                <a:latin typeface="Arial" panose="020B0604020202020204" pitchFamily="34" charset="0"/>
                <a:cs typeface="Arial" panose="020B0604020202020204" pitchFamily="34" charset="0"/>
              </a:rPr>
              <a:t> claramente mayores que </a:t>
            </a:r>
            <a:r>
              <a:rPr lang="es-ES" sz="1200" dirty="0" err="1">
                <a:latin typeface="Arial" panose="020B0604020202020204" pitchFamily="34" charset="0"/>
                <a:cs typeface="Arial" panose="020B0604020202020204" pitchFamily="34" charset="0"/>
              </a:rPr>
              <a:t>Sinx</a:t>
            </a:r>
            <a:r>
              <a:rPr lang="es-ES" sz="1200" dirty="0">
                <a:latin typeface="Arial" panose="020B0604020202020204" pitchFamily="34" charset="0"/>
                <a:cs typeface="Arial" panose="020B0604020202020204" pitchFamily="34" charset="0"/>
              </a:rPr>
              <a:t>/Sio2 porque el silicio tiene un índice de refracción mucho más alto, lo que produce un confinamiento modal mucho más fuerte.</a:t>
            </a:r>
          </a:p>
          <a:p>
            <a:pPr algn="just"/>
            <a:r>
              <a:rPr lang="es-ES" sz="1200" dirty="0">
                <a:latin typeface="Arial" panose="020B0604020202020204" pitchFamily="34" charset="0"/>
                <a:cs typeface="Arial" panose="020B0604020202020204" pitchFamily="34" charset="0"/>
              </a:rPr>
              <a:t>Ese mayor contraste de índice hace que, incluso con una sección más pequeña, SOI guíe la luz de forma más intensa. </a:t>
            </a:r>
          </a:p>
          <a:p>
            <a:pPr algn="just"/>
            <a:r>
              <a:rPr lang="es-ES" sz="1200" dirty="0">
                <a:latin typeface="Arial" panose="020B0604020202020204" pitchFamily="34" charset="0"/>
                <a:cs typeface="Arial" panose="020B0604020202020204" pitchFamily="34" charset="0"/>
              </a:rPr>
              <a:t>En ambas tecnologías, </a:t>
            </a:r>
            <a:r>
              <a:rPr lang="es-ES" sz="1200" dirty="0" err="1">
                <a:latin typeface="Arial" panose="020B0604020202020204" pitchFamily="34" charset="0"/>
                <a:cs typeface="Arial" panose="020B0604020202020204" pitchFamily="34" charset="0"/>
              </a:rPr>
              <a:t>neff</a:t>
            </a:r>
            <a:r>
              <a:rPr lang="es-ES" sz="1200" dirty="0">
                <a:latin typeface="Arial" panose="020B0604020202020204" pitchFamily="34" charset="0"/>
                <a:cs typeface="Arial" panose="020B0604020202020204" pitchFamily="34" charset="0"/>
              </a:rPr>
              <a:t> disminuye al aumentar la longitud de onda. </a:t>
            </a:r>
          </a:p>
          <a:p>
            <a:pPr algn="just"/>
            <a:r>
              <a:rPr lang="es-ES" sz="1200" noProof="0" dirty="0">
                <a:latin typeface="Arial" panose="020B0604020202020204" pitchFamily="34" charset="0"/>
                <a:cs typeface="Arial" panose="020B0604020202020204" pitchFamily="34" charset="0"/>
              </a:rPr>
              <a:t>La versión </a:t>
            </a:r>
            <a:r>
              <a:rPr lang="es-ES" sz="1200" noProof="0" dirty="0" err="1">
                <a:latin typeface="Arial" panose="020B0604020202020204" pitchFamily="34" charset="0"/>
                <a:cs typeface="Arial" panose="020B0604020202020204" pitchFamily="34" charset="0"/>
              </a:rPr>
              <a:t>shallow</a:t>
            </a:r>
            <a:r>
              <a:rPr lang="es-ES" sz="1200" noProof="0" dirty="0">
                <a:latin typeface="Arial" panose="020B0604020202020204" pitchFamily="34" charset="0"/>
                <a:cs typeface="Arial" panose="020B0604020202020204" pitchFamily="34" charset="0"/>
              </a:rPr>
              <a:t> aumenta </a:t>
            </a:r>
            <a:r>
              <a:rPr lang="es-ES" sz="1200" noProof="0" dirty="0" err="1">
                <a:latin typeface="Arial" panose="020B0604020202020204" pitchFamily="34" charset="0"/>
                <a:cs typeface="Arial" panose="020B0604020202020204" pitchFamily="34" charset="0"/>
              </a:rPr>
              <a:t>neff</a:t>
            </a:r>
            <a:r>
              <a:rPr lang="es-ES" sz="1200" noProof="0" dirty="0">
                <a:latin typeface="Arial" panose="020B0604020202020204" pitchFamily="34" charset="0"/>
                <a:cs typeface="Arial" panose="020B0604020202020204" pitchFamily="34" charset="0"/>
              </a:rPr>
              <a:t> en ambos casos, pero el efecto es mucho más visible en SOI por el fuerte papel del </a:t>
            </a:r>
            <a:r>
              <a:rPr lang="es-ES" sz="1200" noProof="0" dirty="0" err="1">
                <a:latin typeface="Arial" panose="020B0604020202020204" pitchFamily="34" charset="0"/>
                <a:cs typeface="Arial" panose="020B0604020202020204" pitchFamily="34" charset="0"/>
              </a:rPr>
              <a:t>slab</a:t>
            </a:r>
            <a:r>
              <a:rPr lang="es-ES" sz="1200" noProof="0" dirty="0">
                <a:latin typeface="Arial" panose="020B0604020202020204" pitchFamily="34" charset="0"/>
                <a:cs typeface="Arial" panose="020B0604020202020204" pitchFamily="34" charset="0"/>
              </a:rPr>
              <a:t> en una plataforma de alto contraste.</a:t>
            </a: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915969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FABE97-4D32-7B9E-63EA-73D3C22D8F5E}"/>
              </a:ext>
            </a:extLst>
          </p:cNvPr>
          <p:cNvSpPr>
            <a:spLocks noGrp="1"/>
          </p:cNvSpPr>
          <p:nvPr>
            <p:ph type="title"/>
          </p:nvPr>
        </p:nvSpPr>
        <p:spPr/>
        <p:txBody>
          <a:bodyPr/>
          <a:lstStyle/>
          <a:p>
            <a:r>
              <a:rPr lang="es-ES" dirty="0"/>
              <a:t>Extra 2</a:t>
            </a:r>
          </a:p>
        </p:txBody>
      </p:sp>
      <p:sp>
        <p:nvSpPr>
          <p:cNvPr id="4" name="Marcador de pie de página 3">
            <a:extLst>
              <a:ext uri="{FF2B5EF4-FFF2-40B4-BE49-F238E27FC236}">
                <a16:creationId xmlns:a16="http://schemas.microsoft.com/office/drawing/2014/main" id="{61B75651-63A9-06DE-5B7D-B640B6B0385C}"/>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Marcador de número de diapositiva 4">
            <a:extLst>
              <a:ext uri="{FF2B5EF4-FFF2-40B4-BE49-F238E27FC236}">
                <a16:creationId xmlns:a16="http://schemas.microsoft.com/office/drawing/2014/main" id="{E585EC22-6895-87A3-2949-3379E536A3CF}"/>
              </a:ext>
            </a:extLst>
          </p:cNvPr>
          <p:cNvSpPr>
            <a:spLocks noGrp="1"/>
          </p:cNvSpPr>
          <p:nvPr>
            <p:ph type="sldNum" sz="quarter" idx="7"/>
          </p:nvPr>
        </p:nvSpPr>
        <p:spPr/>
        <p:txBody>
          <a:bodyPr/>
          <a:lstStyle/>
          <a:p>
            <a:fld id="{B6F15528-21DE-4FAA-801E-634DDDAF4B2B}" type="slidenum">
              <a:rPr lang="es-ES" smtClean="0"/>
              <a:t>13</a:t>
            </a:fld>
            <a:endParaRPr lang="es-ES"/>
          </a:p>
        </p:txBody>
      </p:sp>
      <p:pic>
        <p:nvPicPr>
          <p:cNvPr id="7" name="Imagen 6">
            <a:extLst>
              <a:ext uri="{FF2B5EF4-FFF2-40B4-BE49-F238E27FC236}">
                <a16:creationId xmlns:a16="http://schemas.microsoft.com/office/drawing/2014/main" id="{EF6D7823-F979-8EB1-2E96-F2CDE1C9B77F}"/>
              </a:ext>
            </a:extLst>
          </p:cNvPr>
          <p:cNvPicPr>
            <a:picLocks noChangeAspect="1"/>
          </p:cNvPicPr>
          <p:nvPr/>
        </p:nvPicPr>
        <p:blipFill>
          <a:blip r:embed="rId2"/>
          <a:stretch>
            <a:fillRect/>
          </a:stretch>
        </p:blipFill>
        <p:spPr>
          <a:xfrm>
            <a:off x="3495675" y="609600"/>
            <a:ext cx="5181600" cy="3016431"/>
          </a:xfrm>
          <a:prstGeom prst="rect">
            <a:avLst/>
          </a:prstGeom>
        </p:spPr>
      </p:pic>
      <p:sp>
        <p:nvSpPr>
          <p:cNvPr id="8" name="CuadroTexto 7">
            <a:extLst>
              <a:ext uri="{FF2B5EF4-FFF2-40B4-BE49-F238E27FC236}">
                <a16:creationId xmlns:a16="http://schemas.microsoft.com/office/drawing/2014/main" id="{038A23E4-292C-93AC-6D68-5CEA51D32B72}"/>
              </a:ext>
            </a:extLst>
          </p:cNvPr>
          <p:cNvSpPr txBox="1"/>
          <p:nvPr/>
        </p:nvSpPr>
        <p:spPr>
          <a:xfrm>
            <a:off x="486489" y="3824050"/>
            <a:ext cx="11199971" cy="1754326"/>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Comparación</a:t>
            </a:r>
          </a:p>
          <a:p>
            <a:pPr algn="just"/>
            <a:r>
              <a:rPr lang="es-ES" sz="1200" noProof="0" dirty="0" err="1">
                <a:latin typeface="Arial" panose="020B0604020202020204" pitchFamily="34" charset="0"/>
                <a:cs typeface="Arial" panose="020B0604020202020204" pitchFamily="34" charset="0"/>
              </a:rPr>
              <a:t>Neff</a:t>
            </a:r>
            <a:r>
              <a:rPr lang="es-ES" sz="1200" noProof="0" dirty="0">
                <a:latin typeface="Arial" panose="020B0604020202020204" pitchFamily="34" charset="0"/>
                <a:cs typeface="Arial" panose="020B0604020202020204" pitchFamily="34" charset="0"/>
              </a:rPr>
              <a:t> aumenta en ambos casos al incrementar la anchura, porque el modo queda más confinado en el núcleo y disminuye su penetración en el </a:t>
            </a:r>
            <a:r>
              <a:rPr lang="es-ES" sz="1200" noProof="0" dirty="0" err="1">
                <a:latin typeface="Arial" panose="020B0604020202020204" pitchFamily="34" charset="0"/>
                <a:cs typeface="Arial" panose="020B0604020202020204" pitchFamily="34" charset="0"/>
              </a:rPr>
              <a:t>cladding</a:t>
            </a:r>
            <a:r>
              <a:rPr lang="es-ES" sz="1200" noProof="0" dirty="0">
                <a:latin typeface="Arial" panose="020B0604020202020204" pitchFamily="34" charset="0"/>
                <a:cs typeface="Arial" panose="020B0604020202020204" pitchFamily="34" charset="0"/>
              </a:rPr>
              <a:t>.</a:t>
            </a:r>
          </a:p>
          <a:p>
            <a:pPr algn="just"/>
            <a:r>
              <a:rPr lang="es-ES" sz="1200" dirty="0">
                <a:latin typeface="Arial" panose="020B0604020202020204" pitchFamily="34" charset="0"/>
                <a:cs typeface="Arial" panose="020B0604020202020204" pitchFamily="34" charset="0"/>
              </a:rPr>
              <a:t>Sin embargo, en SOI el aumento es mucho más pronunciado, debido al mayor contraste de índice entre Si y SiO2, por eso, SOI alcanza valores de </a:t>
            </a:r>
            <a:r>
              <a:rPr lang="es-ES" sz="1200" dirty="0" err="1">
                <a:latin typeface="Arial" panose="020B0604020202020204" pitchFamily="34" charset="0"/>
                <a:cs typeface="Arial" panose="020B0604020202020204" pitchFamily="34" charset="0"/>
              </a:rPr>
              <a:t>neff</a:t>
            </a:r>
            <a:r>
              <a:rPr lang="es-ES" sz="1200" dirty="0">
                <a:latin typeface="Arial" panose="020B0604020202020204" pitchFamily="34" charset="0"/>
                <a:cs typeface="Arial" panose="020B0604020202020204" pitchFamily="34" charset="0"/>
              </a:rPr>
              <a:t> mucho más altos y muestra un confinamiento claramente superior.</a:t>
            </a:r>
          </a:p>
          <a:p>
            <a:pPr algn="just"/>
            <a:r>
              <a:rPr lang="es-ES" sz="1200" dirty="0">
                <a:latin typeface="Arial" panose="020B0604020202020204" pitchFamily="34" charset="0"/>
                <a:cs typeface="Arial" panose="020B0604020202020204" pitchFamily="34" charset="0"/>
              </a:rPr>
              <a:t>Podemos observar también que la dependencia con la anchura es mucho más sensible en SOI, en cuanto a la fracción TE, se muestra que la polarización de los modos se mantiene más definida cuando el confinamiento crece.</a:t>
            </a: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599296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579D23-EC5E-5405-A668-7E40039531F4}"/>
              </a:ext>
            </a:extLst>
          </p:cNvPr>
          <p:cNvSpPr>
            <a:spLocks noGrp="1"/>
          </p:cNvSpPr>
          <p:nvPr>
            <p:ph type="title"/>
          </p:nvPr>
        </p:nvSpPr>
        <p:spPr/>
        <p:txBody>
          <a:bodyPr/>
          <a:lstStyle/>
          <a:p>
            <a:r>
              <a:rPr lang="es-ES" dirty="0"/>
              <a:t>Extra 3</a:t>
            </a:r>
          </a:p>
        </p:txBody>
      </p:sp>
      <p:sp>
        <p:nvSpPr>
          <p:cNvPr id="4" name="Marcador de pie de página 3">
            <a:extLst>
              <a:ext uri="{FF2B5EF4-FFF2-40B4-BE49-F238E27FC236}">
                <a16:creationId xmlns:a16="http://schemas.microsoft.com/office/drawing/2014/main" id="{FEB40EFD-D745-5134-F8A6-8E35582452E1}"/>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Marcador de número de diapositiva 4">
            <a:extLst>
              <a:ext uri="{FF2B5EF4-FFF2-40B4-BE49-F238E27FC236}">
                <a16:creationId xmlns:a16="http://schemas.microsoft.com/office/drawing/2014/main" id="{B54092B9-3ED9-1A90-82BF-40BC9DA40E45}"/>
              </a:ext>
            </a:extLst>
          </p:cNvPr>
          <p:cNvSpPr>
            <a:spLocks noGrp="1"/>
          </p:cNvSpPr>
          <p:nvPr>
            <p:ph type="sldNum" sz="quarter" idx="7"/>
          </p:nvPr>
        </p:nvSpPr>
        <p:spPr/>
        <p:txBody>
          <a:bodyPr/>
          <a:lstStyle/>
          <a:p>
            <a:fld id="{B6F15528-21DE-4FAA-801E-634DDDAF4B2B}" type="slidenum">
              <a:rPr lang="es-ES" smtClean="0"/>
              <a:t>14</a:t>
            </a:fld>
            <a:endParaRPr lang="es-ES"/>
          </a:p>
        </p:txBody>
      </p:sp>
      <p:pic>
        <p:nvPicPr>
          <p:cNvPr id="7" name="Imagen 6">
            <a:extLst>
              <a:ext uri="{FF2B5EF4-FFF2-40B4-BE49-F238E27FC236}">
                <a16:creationId xmlns:a16="http://schemas.microsoft.com/office/drawing/2014/main" id="{14229416-7E42-73EE-B623-ADCA2D5EBCD5}"/>
              </a:ext>
            </a:extLst>
          </p:cNvPr>
          <p:cNvPicPr>
            <a:picLocks noChangeAspect="1"/>
          </p:cNvPicPr>
          <p:nvPr/>
        </p:nvPicPr>
        <p:blipFill>
          <a:blip r:embed="rId2"/>
          <a:stretch>
            <a:fillRect/>
          </a:stretch>
        </p:blipFill>
        <p:spPr>
          <a:xfrm>
            <a:off x="864103" y="552629"/>
            <a:ext cx="4622298" cy="2929777"/>
          </a:xfrm>
          <a:prstGeom prst="rect">
            <a:avLst/>
          </a:prstGeom>
        </p:spPr>
      </p:pic>
      <p:pic>
        <p:nvPicPr>
          <p:cNvPr id="9" name="Imagen 8">
            <a:extLst>
              <a:ext uri="{FF2B5EF4-FFF2-40B4-BE49-F238E27FC236}">
                <a16:creationId xmlns:a16="http://schemas.microsoft.com/office/drawing/2014/main" id="{7398B10B-1E9C-B502-1A62-F04414AEFAEE}"/>
              </a:ext>
            </a:extLst>
          </p:cNvPr>
          <p:cNvPicPr>
            <a:picLocks noChangeAspect="1"/>
          </p:cNvPicPr>
          <p:nvPr/>
        </p:nvPicPr>
        <p:blipFill>
          <a:blip r:embed="rId3"/>
          <a:stretch>
            <a:fillRect/>
          </a:stretch>
        </p:blipFill>
        <p:spPr>
          <a:xfrm>
            <a:off x="6225914" y="579843"/>
            <a:ext cx="4953000" cy="2954772"/>
          </a:xfrm>
          <a:prstGeom prst="rect">
            <a:avLst/>
          </a:prstGeom>
        </p:spPr>
      </p:pic>
      <p:sp>
        <p:nvSpPr>
          <p:cNvPr id="10" name="CuadroTexto 9">
            <a:extLst>
              <a:ext uri="{FF2B5EF4-FFF2-40B4-BE49-F238E27FC236}">
                <a16:creationId xmlns:a16="http://schemas.microsoft.com/office/drawing/2014/main" id="{6484A557-1B8D-C79D-C37F-79E5840644F0}"/>
              </a:ext>
            </a:extLst>
          </p:cNvPr>
          <p:cNvSpPr txBox="1"/>
          <p:nvPr/>
        </p:nvSpPr>
        <p:spPr>
          <a:xfrm>
            <a:off x="625929" y="3886200"/>
            <a:ext cx="11199971" cy="1938992"/>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Comparación</a:t>
            </a:r>
          </a:p>
          <a:p>
            <a:pPr algn="just"/>
            <a:endParaRPr lang="es-ES" sz="1200" noProof="0" dirty="0">
              <a:latin typeface="Arial" panose="020B0604020202020204" pitchFamily="34" charset="0"/>
              <a:cs typeface="Arial" panose="020B0604020202020204" pitchFamily="34" charset="0"/>
            </a:endParaRPr>
          </a:p>
          <a:p>
            <a:pPr algn="just"/>
            <a:r>
              <a:rPr lang="es-ES" sz="1200" noProof="0" dirty="0">
                <a:latin typeface="Arial" panose="020B0604020202020204" pitchFamily="34" charset="0"/>
                <a:cs typeface="Arial" panose="020B0604020202020204" pitchFamily="34" charset="0"/>
              </a:rPr>
              <a:t>La tecnología SOI presenta pérdidas de curvatura mucho menores que </a:t>
            </a:r>
            <a:r>
              <a:rPr lang="es-ES" sz="1200" noProof="0" dirty="0" err="1">
                <a:latin typeface="Arial" panose="020B0604020202020204" pitchFamily="34" charset="0"/>
                <a:cs typeface="Arial" panose="020B0604020202020204" pitchFamily="34" charset="0"/>
              </a:rPr>
              <a:t>SiNx</a:t>
            </a:r>
            <a:r>
              <a:rPr lang="es-ES" sz="1200" noProof="0" dirty="0">
                <a:latin typeface="Arial" panose="020B0604020202020204" pitchFamily="34" charset="0"/>
                <a:cs typeface="Arial" panose="020B0604020202020204" pitchFamily="34" charset="0"/>
              </a:rPr>
              <a:t> para radios pequeños, lo que indica un confinamiento modal mucho más fuerte.</a:t>
            </a:r>
          </a:p>
          <a:p>
            <a:pPr algn="just"/>
            <a:r>
              <a:rPr lang="es-ES" sz="1200" dirty="0">
                <a:latin typeface="Arial" panose="020B0604020202020204" pitchFamily="34" charset="0"/>
                <a:cs typeface="Arial" panose="020B0604020202020204" pitchFamily="34" charset="0"/>
              </a:rPr>
              <a:t>En SOI, incluso en el rango de 5-30 </a:t>
            </a:r>
            <a:r>
              <a:rPr lang="es-ES" sz="1200" dirty="0" err="1">
                <a:latin typeface="Arial" panose="020B0604020202020204" pitchFamily="34" charset="0"/>
                <a:cs typeface="Arial" panose="020B0604020202020204" pitchFamily="34" charset="0"/>
              </a:rPr>
              <a:t>um</a:t>
            </a:r>
            <a:r>
              <a:rPr lang="es-ES" sz="1200" dirty="0">
                <a:latin typeface="Arial" panose="020B0604020202020204" pitchFamily="34" charset="0"/>
                <a:cs typeface="Arial" panose="020B0604020202020204" pitchFamily="34" charset="0"/>
              </a:rPr>
              <a:t>, la pérdida total se mantiene muy baja, y ya cumple claramente la condición de radio seguro. Se puede observar con bastante poca dificultad que para </a:t>
            </a:r>
            <a:r>
              <a:rPr lang="es-ES" sz="1200" dirty="0" err="1">
                <a:latin typeface="Arial" panose="020B0604020202020204" pitchFamily="34" charset="0"/>
                <a:cs typeface="Arial" panose="020B0604020202020204" pitchFamily="34" charset="0"/>
              </a:rPr>
              <a:t>SiNx</a:t>
            </a:r>
            <a:r>
              <a:rPr lang="es-ES" sz="1200" dirty="0">
                <a:latin typeface="Arial" panose="020B0604020202020204" pitchFamily="34" charset="0"/>
                <a:cs typeface="Arial" panose="020B0604020202020204" pitchFamily="34" charset="0"/>
              </a:rPr>
              <a:t> las pérdidas son bastante mayores para radios pequeños y solo se reducen al aumentar significativamente el radio, esto se debe a que en SOI el alto contraste de índice entre Si y SiO2 mantiene el modo mucho más encerrado en el núcleo y reduce la fuga por curvatura.</a:t>
            </a:r>
          </a:p>
          <a:p>
            <a:pPr algn="just"/>
            <a:endParaRPr lang="es-ES" sz="1200" noProof="0" dirty="0">
              <a:latin typeface="Arial" panose="020B0604020202020204" pitchFamily="34" charset="0"/>
              <a:cs typeface="Arial" panose="020B0604020202020204" pitchFamily="34" charset="0"/>
            </a:endParaRPr>
          </a:p>
          <a:p>
            <a:pPr algn="just"/>
            <a:r>
              <a:rPr lang="es-ES" sz="1200" noProof="0" dirty="0">
                <a:latin typeface="Arial" panose="020B0604020202020204" pitchFamily="34" charset="0"/>
                <a:cs typeface="Arial" panose="020B0604020202020204" pitchFamily="34" charset="0"/>
              </a:rPr>
              <a:t>En ambas tecnologías la pérdida de modo disminuye con el radio, mientras que la pérdida de propagación aumenta linealmente con la longitud del arco.</a:t>
            </a: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008065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lang="es-ES" noProof="0" dirty="0"/>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lang="es-ES" sz="3200" b="1" spc="-5" noProof="0" dirty="0" err="1">
                <a:solidFill>
                  <a:srgbClr val="FFFFFF"/>
                </a:solidFill>
                <a:latin typeface="Lucida Sans"/>
                <a:cs typeface="Lucida Sans"/>
              </a:rPr>
              <a:t>Thank</a:t>
            </a:r>
            <a:r>
              <a:rPr lang="es-ES" sz="3200" b="1" spc="-55" noProof="0" dirty="0">
                <a:solidFill>
                  <a:srgbClr val="FFFFFF"/>
                </a:solidFill>
                <a:latin typeface="Lucida Sans"/>
                <a:cs typeface="Lucida Sans"/>
              </a:rPr>
              <a:t> </a:t>
            </a:r>
            <a:r>
              <a:rPr lang="es-ES" sz="3200" b="1" noProof="0" dirty="0" err="1">
                <a:solidFill>
                  <a:srgbClr val="FFFFFF"/>
                </a:solidFill>
                <a:latin typeface="Lucida Sans"/>
                <a:cs typeface="Lucida Sans"/>
              </a:rPr>
              <a:t>you</a:t>
            </a:r>
            <a:endParaRPr lang="es-ES" sz="3200" noProof="0" dirty="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noProof="0" smtClean="0"/>
              <a:t>15</a:t>
            </a:fld>
            <a:endParaRPr lang="es-ES" noProof="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1665</TotalTime>
  <Words>2242</Words>
  <Application>Microsoft Office PowerPoint</Application>
  <PresentationFormat>Panorámica</PresentationFormat>
  <Paragraphs>184</Paragraphs>
  <Slides>15</Slides>
  <Notes>5</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15</vt:i4>
      </vt:variant>
    </vt:vector>
  </HeadingPairs>
  <TitlesOfParts>
    <vt:vector size="23" baseType="lpstr">
      <vt:lpstr>Aptos</vt:lpstr>
      <vt:lpstr>Arial</vt:lpstr>
      <vt:lpstr>Calibri</vt:lpstr>
      <vt:lpstr>Cambria Math</vt:lpstr>
      <vt:lpstr>Lucida Sans</vt:lpstr>
      <vt:lpstr>Times New Roman</vt:lpstr>
      <vt:lpstr>Wingdings</vt:lpstr>
      <vt:lpstr>Office Theme</vt:lpstr>
      <vt:lpstr>Presentación de PowerPoint</vt:lpstr>
      <vt:lpstr>Instructions General</vt:lpstr>
      <vt:lpstr>Learning outcome #1 – Effective index of a waveguide </vt:lpstr>
      <vt:lpstr>Learning outcome #1 – Effective index of a waveguide </vt:lpstr>
      <vt:lpstr>Learning outcome #2 – Wavelength behavior Wavelength 1.5-1.6 µm (step 0.01 µm) – width 1.2 µm</vt:lpstr>
      <vt:lpstr>Learning outcome #3 – Width dependence Width 0.6 - 1.6 µm (step 0.1 µm) – Wavelength 1.55 µm </vt:lpstr>
      <vt:lpstr>Learning outcome #3 – Width dependence Width 0.6 - 1.6 µm (step 0.1 µm) – Wavelength 1.55 µm </vt:lpstr>
      <vt:lpstr>Learning outcome #4 – Waveguide compact model - Find the compact models of the following waveguides:  Deep waveguide, h=300nm, w=1.2um   - Shallow waveguide, core h=300nm, slab h=150 nm, w = 1.2um  </vt:lpstr>
      <vt:lpstr>Presentación de PowerPoint</vt:lpstr>
      <vt:lpstr>Learning outcome #5 – Bend waveguide radius vs. loss – deep Find  neff_TE0 for wvl 1.55 µm, width 1.2 µm for R=25,50,75,100, 125,150 µm </vt:lpstr>
      <vt:lpstr>Presentación de PowerPoint</vt:lpstr>
      <vt:lpstr>Extra 1</vt:lpstr>
      <vt:lpstr>Extra 2</vt:lpstr>
      <vt:lpstr>Extra 3</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Arnau Bernabeu Corbi</cp:lastModifiedBy>
  <cp:revision>16</cp:revision>
  <dcterms:created xsi:type="dcterms:W3CDTF">2025-01-27T02:46:57Z</dcterms:created>
  <dcterms:modified xsi:type="dcterms:W3CDTF">2026-03-11T16:57:33Z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